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wmv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25F5928-AB6A-E7DD-08D9-62EA1440B860}">
          <p14:sldIdLst>
            <p14:sldId id="256"/>
          </p14:sldIdLst>
        </p14:section>
        <p14:section name="Contexto" id="{E1CDFE6E-74C8-BBD1-9CEE-A82AC778849D}">
          <p14:sldIdLst>
            <p14:sldId id="257"/>
            <p14:sldId id="258"/>
          </p14:sldIdLst>
        </p14:section>
        <p14:section name="Proposta" id="{08EE46A5-AF74-2DAC-D16D-26A8FC2083E1}">
          <p14:sldIdLst>
            <p14:sldId id="259"/>
            <p14:sldId id="260"/>
            <p14:sldId id="261"/>
          </p14:sldIdLst>
        </p14:section>
        <p14:section name="Resultados" id="{5FBA4A5B-8AB1-4E3C-8420-C4322BE20A39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Fechamento" id="{33EEE3EA-6667-7B6C-6F6B-E1155F747CF7}">
          <p14:sldIdLst>
            <p14:sldId id="274"/>
            <p14:sldId id="275"/>
            <p14:sldId id="276"/>
          </p14:sldIdLst>
        </p14:section>
        <p14:section name="Apoio" id="{3EDE4601-52E4-78FA-C3BB-F4678AF85E88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05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3A"/>
                </a:solidFill>
                <a:latin typeface="+mn-lt"/>
              </a:defRPr>
            </a:pPr>
            <a:r>
              <a:rPr lang="pt-BR" sz="1400" b="0" i="0" u="none" strike="noStrike">
                <a:solidFill>
                  <a:srgbClr val="0F2A3A"/>
                </a:solidFill>
                <a:latin typeface="+mn-lt"/>
              </a:rPr>
              <a:t>Tempo por ativação (s) em cada repetição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D9711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B2631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R01</c:v>
                </c:pt>
                <c:pt idx="1">
                  <c:v>R02</c:v>
                </c:pt>
                <c:pt idx="2">
                  <c:v>R03</c:v>
                </c:pt>
                <c:pt idx="3">
                  <c:v>R04</c:v>
                </c:pt>
                <c:pt idx="4">
                  <c:v>R05</c:v>
                </c:pt>
                <c:pt idx="5">
                  <c:v>R06</c:v>
                </c:pt>
                <c:pt idx="6">
                  <c:v>R07</c:v>
                </c:pt>
                <c:pt idx="7">
                  <c:v>R08</c:v>
                </c:pt>
                <c:pt idx="8">
                  <c:v>R09</c:v>
                </c:pt>
                <c:pt idx="9">
                  <c:v>R10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312.85000000000002</c:v>
                </c:pt>
                <c:pt idx="1">
                  <c:v>460.97</c:v>
                </c:pt>
                <c:pt idx="2">
                  <c:v>108.57</c:v>
                </c:pt>
                <c:pt idx="3">
                  <c:v>111.29</c:v>
                </c:pt>
                <c:pt idx="4">
                  <c:v>90.19</c:v>
                </c:pt>
                <c:pt idx="5">
                  <c:v>97.16</c:v>
                </c:pt>
                <c:pt idx="6">
                  <c:v>143.76</c:v>
                </c:pt>
                <c:pt idx="7">
                  <c:v>99.7</c:v>
                </c:pt>
                <c:pt idx="8">
                  <c:v>92.22</c:v>
                </c:pt>
                <c:pt idx="9">
                  <c:v>103.17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Automatizado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B2631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R01</c:v>
                </c:pt>
                <c:pt idx="1">
                  <c:v>R02</c:v>
                </c:pt>
                <c:pt idx="2">
                  <c:v>R03</c:v>
                </c:pt>
                <c:pt idx="3">
                  <c:v>R04</c:v>
                </c:pt>
                <c:pt idx="4">
                  <c:v>R05</c:v>
                </c:pt>
                <c:pt idx="5">
                  <c:v>R06</c:v>
                </c:pt>
                <c:pt idx="6">
                  <c:v>R07</c:v>
                </c:pt>
                <c:pt idx="7">
                  <c:v>R08</c:v>
                </c:pt>
                <c:pt idx="8">
                  <c:v>R09</c:v>
                </c:pt>
                <c:pt idx="9">
                  <c:v>R10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5.57</c:v>
                </c:pt>
                <c:pt idx="1">
                  <c:v>5.66</c:v>
                </c:pt>
                <c:pt idx="2">
                  <c:v>5.55</c:v>
                </c:pt>
                <c:pt idx="3">
                  <c:v>5.54</c:v>
                </c:pt>
                <c:pt idx="4">
                  <c:v>6.88</c:v>
                </c:pt>
                <c:pt idx="5">
                  <c:v>5.42</c:v>
                </c:pt>
                <c:pt idx="6">
                  <c:v>5.69</c:v>
                </c:pt>
                <c:pt idx="7">
                  <c:v>5.77</c:v>
                </c:pt>
                <c:pt idx="8">
                  <c:v>5.55</c:v>
                </c:pt>
                <c:pt idx="9">
                  <c:v>5.47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24483456"/>
        <c:axId val="80798464"/>
      </c:barChart>
      <c:catAx>
        <c:axId val="124483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pt-BR"/>
          </a:p>
        </c:txPr>
        <c:crossAx val="80798464"/>
        <c:crosses val="autoZero"/>
        <c:auto val="1"/>
        <c:lblAlgn val="ctr"/>
        <c:lblOffset val="100"/>
        <c:noMultiLvlLbl val="1"/>
      </c:catAx>
      <c:valAx>
        <c:axId val="80798464"/>
        <c:scaling>
          <c:orientation val="minMax"/>
          <c:max val="500"/>
        </c:scaling>
        <c:delete val="0"/>
        <c:axPos val="l"/>
        <c:majorGridlines>
          <c:spPr>
            <a:ln w="9525" cap="flat">
              <a:solidFill>
                <a:srgbClr val="E1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pt-BR"/>
          </a:p>
        </c:txPr>
        <c:crossAx val="124483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pt-B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3A"/>
                </a:solidFill>
                <a:latin typeface="+mn-lt"/>
              </a:defRPr>
            </a:pPr>
            <a:r>
              <a:rPr lang="pt-BR" sz="1400" b="0" i="0" u="none" strike="noStrike">
                <a:solidFill>
                  <a:srgbClr val="0F2A3A"/>
                </a:solidFill>
                <a:latin typeface="+mn-lt"/>
              </a:rPr>
              <a:t>Tempo total médio do lote (s), 3 repetições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total médio do lote (s)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300" b="0" i="0" u="none" strike="noStrike">
                    <a:solidFill>
                      <a:srgbClr val="1B2631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1 cliente</c:v>
                </c:pt>
                <c:pt idx="1">
                  <c:v>5 clientes</c:v>
                </c:pt>
                <c:pt idx="2">
                  <c:v>10 clientes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6.37</c:v>
                </c:pt>
                <c:pt idx="1">
                  <c:v>27.44</c:v>
                </c:pt>
                <c:pt idx="2">
                  <c:v>57.49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134481792"/>
        <c:axId val="134505216"/>
      </c:barChart>
      <c:catAx>
        <c:axId val="134481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+mn-lt"/>
              </a:defRPr>
            </a:pPr>
            <a:endParaRPr lang="pt-BR"/>
          </a:p>
        </c:txPr>
        <c:crossAx val="134505216"/>
        <c:crosses val="autoZero"/>
        <c:auto val="1"/>
        <c:lblAlgn val="ctr"/>
        <c:lblOffset val="100"/>
        <c:noMultiLvlLbl val="1"/>
      </c:catAx>
      <c:valAx>
        <c:axId val="134505216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1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+mn-lt"/>
              </a:defRPr>
            </a:pPr>
            <a:endParaRPr lang="pt-BR"/>
          </a:p>
        </c:txPr>
        <c:crossAx val="134481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DEF1-CF96-4E6F-961A-D4B80333E93E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C2DFE-7169-45A0-B11A-1E2291B001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45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[0:20] Boa tarde. Sou Gabriel Henrique de Salles e vou apresentar meu TCC, orientado pelo Prof. Luis Jose Rohling: a aplicação de Netmiko, NAPALM e Jinja2 na ativação de clientes em roteadores Cisco, num laboratório que reproduz um PROVEDOR de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O problema: na borda, a tarefa mais frequente é ativar cliente corporativo. Hoje é manual: SSH, comandos do procedimento, verificação, registro. Cinco problemas: tempo, erros silenciosos, verificação não sistemática, rastreabilidade e escala. O exemplo de baixo é real: errei o OSPF montando o próprio laboratório, e o roteador aceitou sem reclamar.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O objetivo é aplicar ferramentas que já existem e medir o ganho; não é criar ferramenta nova. Escopo IP/BGP, em laboratório. Cada pergunta virou um experimento, de D1 a D5. No D1, o mesmo cliente é ativado à mão e pelo script, dez vezes. No D4, os desvios são sorteados pelo script e eu não sabia quais eram. Todos os registros estão no apêndice do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O YAML é a fonte da verdade. O Jinja2 transforma dados em configuração. O Netmiko aplica e verifica pela CLI. O NAPALM lê a configuração de forma estruturada, usado no inventário e na auditoria. Por que não Ansible ou Nornir: deixariam as etapas menos visíveis para medir; e o Nornir usa estas mesmas bibliotecas (detalhe no slide de apoio).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A topologia reproduz core e borda: o core é Route Reflector e servidor NTP; três bordas com funções diferentes; e o servidor Linux que roda a automação. OSPF leva só a infraestrutura; o iBGP leva os prefixos dos clientes. Como o CML Free limita a 5 nós, o cliente é representado por uma Loopback, mas o anúncio no BGP é igual ao de um cliente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[1:30] Este é o coração da proposta. Etapas 1 e 2 barram erro antes de configurar. Na 3, o Jinja2 gera e o Netmiko aplica. Na 4, a verificação é feita no Route Reflector, porque é a prova de que o prefixo se propagou. Na 5, salva ou desfaz. Embaixo: a linha do YAML vira exatamente esta configuração; ninguém digita os comandos.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Primeira pergunta: a automação é mais rápida e erra menos? Ativei o mesmo cliente à mão, a partir de uma ficha, cronometrando até a verificação no core; depois, o mesmo cliente pelo script. Foram dez repetições pareadas, em duas sessões: cinco na edge-1 e cinco na edge-2. Medi tempo, erros e se a configuração final ficou correta.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[1:15] Resultado principal: média de 162 s no manual contra 5,7 s, menos 96,5%. Pela mediana, que é menos afetada pelas primeiras repetições, menos 94,7%. Houve 5 erros manuais em 3 repetições, incluindo um falso positivo: configurei no roteador errado e o ping respondeu pelo próprio core. No script, zero. Mesmo o manual mais rápido, 90 s, foi 13 vezes o automatizado mais lento.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Segunda pergunta: o fluxo detecta erro? Injetei sete erros, um de cada vez: quatro erros de dados no cadastro, dois conflitos com o que já existe na rede e uma falha de rede de verdade, derrubando a sessão BGP da borda. Medi em qual etapa cada erro foi barrado, o tempo e se sobrou alguma configuração no roteador.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No D2, injetei sete erros. Quatro erros de dados nem chegaram à rede. Dois conflitos foram barrados no pré-check, o que vocês vão ver no vídeo. E, com a sessão BGP derrubada, a verificação falhou e o rollback desfez a configuração: nenhum roteador ficou com configuração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Terceira pergunta: escala? Ativei lotes de 1, 5 e 10 clientes, três vezes cada, nove lotes, 48 ativações, sempre com o fluxo completo. Medi o tempo total, o tempo por cliente e se o crescimento é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No D3, ativei lotes de 1, 5 e 10 clientes. Todas as 48 ativações deram certo, e o tempo por cliente ficou estável, entre 5,5 e 6,4 s. O total cresce de forma linear: cerca de 5,7 s por cliente, com R² de 0,97. Projeção: 100 clientes em cerca de 9,5 minutos, em sequência, sem paralelismo.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Quarta pergunta: a automação ajuda a manter o padrão? O script sorteia de dois a quatro desvios, sem me dizer quais. Eu faço a auditoria manual, cronometrada, e registro o que achei; depois roda a auditoria automatizada, com o NAPALM lendo a configuração dos quatro roteadores. Por fim, o gabarito é revelado e tudo é revertido. Três rodadas válidas; uma rodada piloto foi descartada por ambiguidade na lista de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Estas são as regras do padrão. Cada uma tem um motivo operacional: C01 evita travar o terminal, C02 e C03 garantem registros úteis, C04 e C05 controlam o acesso, C06 impede Telnet, que manda senha em texto aberto, C07 mantém o horário único e C08 identifica o cliente na interface. C04 e C05 são auditadas, mas não foram usadas como desvio porque cortariam o acesso do script. O A01, servidor HTTP, é só um aviso de boa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No D4, o script sorteou de 2 a 4 desvios por rodada, sem me dizer quais. Fiz a auditoria manual cronometrada e depois a automatizada. Manual: 7 de 9, em média 346 s. Automatizada: 9 de 9 em 4,3 s, cerca de 80 vezes mais rápida. Os dois que perdi estavam visíveis na tela; o problema é atenção, não conhecimento. E a linha de base achou um ponto real: servidor HTTP habilitado. Uma rodada piloto foi descartada por ambiguidade na lista de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Quinta pergunta: e se a borda do cliente estiver fora? Cinco clientes: dois com segundo circuito na edge-3, um só na edge-1 e dois na edge-2. Primeiro ativei com a rede normal, como controle; depois isolei a edge-1. Para cada cliente, o script testa se o roteador principal responde na porta SSH e decide pelo cadastro: principal, contingência ou falha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No D5, isolei a edge-1 desligando a interface do core. Antes de configurar, o script testa se o roteador responde na porta SSH. Os clientes 111 e 112, que têm acesso redundante, foram ativados na edge-3 e verificados no Route Reflector com próximo salto 4.4.4.4. O 113, sem redundância, recebeu falha segura: nada aplicado. Os da edge-2 seguiram normais. A detecção foi imediata porque o core devolveu destino inalcançável.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[2:15] (vídeo de 2:03) Narrar sobre o vídeo: 1) o operador só cadastra o cliente no YAML; 2) este é o padrão, escrito uma vez; 3) o Jinja2 preencheu, o Netmiko aplicou e o script conferiu: OK em cerca de 6 s; 4) no core, o prefixo veio de um RR-client, 2.2.2.2; 5) ativar de novo é barrado antes de tocar no roteador; 6) auditoria dos 4 roteadores em cerca de 4 s; 7) limpeza (remover o cliente). COMO INSERIR: apague o texto do retângulo, Inserir → Vídeo → Este dispositivo → Demo_TCC_Gabriel.mp4, redimensione sobre o retângulo; em Reprodução, Iniciar: Ao clicar.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[0:50] Limitações: o laboratório tem 5 nós; o operador manual fui eu, que conheço o procedimento, então o manual medido é o melhor caso e o ganho é conservador; as regras do D4 e o cenário do D5 são restritos. E um ponto de discussão: a configuração em si leva uns 3 s; o resto é a automação esperando a rede confirmar, ou seja, ela não dá o serviço como ativo sem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O objetivo foi atingido e as cinco perguntas tiveram resposta objetiva. O ganho principal não é só tempo: é padronização, verificação sistemática e rollback. Para o PROVEDOR, roda sobre o parque existente: começar pela auditoria, que só lê; depois a ativação; por fim integrar à gestão de mudanças. Próximos passos: Nornir para paralelismo, NetBox como fonte da verdade, NETCONF/YANG, integração contínua e extensão a MPLS e eBGP; a lógica do fluxo continua a mesma.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[0:10] Agradeço a atenção e fico à disposição para perguntas. (Tempo total previsto: cerca de 19 min, com 1 min de folga. Slides de apoio a seguir: alternativas, template, regras do D4, Route Reflector, segurança.)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não Ansible: ele também usa Jinja2, mas esconde as etapas; aqui era preciso medir validação, aplicação e verificação separadamente. Atenção: o Nornir usa Netmiko e NAPALM como plugins; o Ansible tem módulos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OSPF garante que os roteadores se alcancem; BGP carrega os clientes. iBGP distribui dentro do AS; eBGP seria na fronteira com outras redes (sem AS externo no lab, limite de 5 nós). Sem RR, malha completa n(n-1)/2. O core é o RR por ser o centro da topologia, estável e com visão completa; em produção seriam dois RRs.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produção: NTP com autenticação (aqui opera sem) e credenciais vindas de um cofre de senhas ou AAA (TACACS+).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TCC · Gabriel Henrique de Salles · PUCPR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de Ferramentas de Automação (Netmiko, NAPALM e Jinja2) na Configuração de Roteadores Cisco em Ambiente Simulado de Provedor de Serviços de Internet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731520" y="393192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Gabriel Henrique de Salles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Orientador: Prof. Luis Jose Rohling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Avaliador: Prof. Ricardo Cassiano Nabhen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Pós-Graduação em Engenharia de Redes e Telecomunicações · PUCPR · 24/10/2026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CONCLUSÃO DE CURSO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Ativar um cliente ainda é trabalho manual na CLI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No PROVEDOR, o técnico acessa o roteador de borda por SSH, digita os comandos do procedimento, confere e registra.</a:t>
            </a:r>
            <a:endParaRPr lang="en-US" sz="1800" dirty="0"/>
          </a:p>
        </p:txBody>
      </p:sp>
      <p:sp>
        <p:nvSpPr>
          <p:cNvPr id="4" name="prob-card-0"/>
          <p:cNvSpPr/>
          <p:nvPr/>
        </p:nvSpPr>
        <p:spPr>
          <a:xfrm>
            <a:off x="548640" y="2011680"/>
            <a:ext cx="2057400" cy="24688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b-0-circ"/>
          <p:cNvSpPr/>
          <p:nvPr/>
        </p:nvSpPr>
        <p:spPr>
          <a:xfrm>
            <a:off x="1234440" y="2240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rob-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90" y="24117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63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Tempo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74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Minutos de trabalho especializado por ativação</a:t>
            </a:r>
            <a:endParaRPr lang="en-US" sz="1400" dirty="0"/>
          </a:p>
        </p:txBody>
      </p:sp>
      <p:sp>
        <p:nvSpPr>
          <p:cNvPr id="9" name="prob-card-1"/>
          <p:cNvSpPr/>
          <p:nvPr/>
        </p:nvSpPr>
        <p:spPr>
          <a:xfrm>
            <a:off x="2816352" y="2011680"/>
            <a:ext cx="2057400" cy="24688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ob-1-circ"/>
          <p:cNvSpPr/>
          <p:nvPr/>
        </p:nvSpPr>
        <p:spPr>
          <a:xfrm>
            <a:off x="3502152" y="22402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prob-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602" y="24117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3512" y="3063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Erros silenciosos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953512" y="3474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Comando válido com valor errado é aceito sem aviso</a:t>
            </a:r>
            <a:endParaRPr lang="en-US" sz="1400" dirty="0"/>
          </a:p>
        </p:txBody>
      </p:sp>
      <p:sp>
        <p:nvSpPr>
          <p:cNvPr id="14" name="prob-card-2"/>
          <p:cNvSpPr/>
          <p:nvPr/>
        </p:nvSpPr>
        <p:spPr>
          <a:xfrm>
            <a:off x="5084064" y="2011680"/>
            <a:ext cx="2057400" cy="24688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ob-2-circ"/>
          <p:cNvSpPr/>
          <p:nvPr/>
        </p:nvSpPr>
        <p:spPr>
          <a:xfrm>
            <a:off x="5769864" y="2240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prob-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314" y="24117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21224" y="3063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Verificação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221224" y="3474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Depende de lembrar onde e como conferir</a:t>
            </a:r>
            <a:endParaRPr lang="en-US" sz="1400" dirty="0"/>
          </a:p>
        </p:txBody>
      </p:sp>
      <p:sp>
        <p:nvSpPr>
          <p:cNvPr id="19" name="prob-card-3"/>
          <p:cNvSpPr/>
          <p:nvPr/>
        </p:nvSpPr>
        <p:spPr>
          <a:xfrm>
            <a:off x="7351776" y="2011680"/>
            <a:ext cx="2057400" cy="24688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rob-3-circ"/>
          <p:cNvSpPr/>
          <p:nvPr/>
        </p:nvSpPr>
        <p:spPr>
          <a:xfrm>
            <a:off x="8037576" y="2240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prob-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026" y="24117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8936" y="3063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Rastreabilidade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88936" y="3474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Quem mudou o quê, e quando, fica disperso</a:t>
            </a:r>
            <a:endParaRPr lang="en-US" sz="1400" dirty="0"/>
          </a:p>
        </p:txBody>
      </p:sp>
      <p:sp>
        <p:nvSpPr>
          <p:cNvPr id="24" name="prob-card-4"/>
          <p:cNvSpPr/>
          <p:nvPr/>
        </p:nvSpPr>
        <p:spPr>
          <a:xfrm>
            <a:off x="9619488" y="2011680"/>
            <a:ext cx="2057400" cy="24688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rob-4-circ"/>
          <p:cNvSpPr/>
          <p:nvPr/>
        </p:nvSpPr>
        <p:spPr>
          <a:xfrm>
            <a:off x="10305288" y="22402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prob-4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6738" y="241173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56648" y="3063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Escala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756648" y="3474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Esforço cresce junto com o número de clientes</a:t>
            </a:r>
            <a:endParaRPr lang="en-US" sz="1400" dirty="0"/>
          </a:p>
        </p:txBody>
      </p:sp>
      <p:sp>
        <p:nvSpPr>
          <p:cNvPr id="29" name="exemplo-real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2960" y="49377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Aconteceu na montagem deste laboratório: </a:t>
            </a:r>
            <a:r>
              <a:rPr lang="en-US" sz="1600" dirty="0">
                <a:solidFill>
                  <a:schemeClr val="bg1"/>
                </a:solidFill>
              </a:rPr>
              <a:t>ao configurar o OSPF à mão em 4 roteadores, a rede de gerência da borda 2 foi declarada na borda 3. O erro só apareceu na tabela de rotas do core.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aplicar ferramentas existentes e medir o ganho</a:t>
            </a:r>
            <a:endParaRPr lang="en-US" sz="3200" dirty="0"/>
          </a:p>
        </p:txBody>
      </p:sp>
      <p:sp>
        <p:nvSpPr>
          <p:cNvPr id="3" name="objetivo-card"/>
          <p:cNvSpPr/>
          <p:nvPr/>
        </p:nvSpPr>
        <p:spPr>
          <a:xfrm>
            <a:off x="548640" y="1280160"/>
            <a:ext cx="4206240" cy="475488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bj-circ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bj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Aplicar Netmiko, NAPALM e Jinja2 à ativação de clientes corporativos em roteadores Cisco, num laboratório com a arquitetura de um ISP, e medir o ganho em relação ao processo manual.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5720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Linha de Projeto: </a:t>
            </a:r>
            <a:r>
              <a:rPr lang="en-US" sz="1400" dirty="0">
                <a:solidFill>
                  <a:schemeClr val="tx1"/>
                </a:solidFill>
              </a:rPr>
              <a:t>ferramentas de código aberto, não uma ferramenta nova.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Escopo: </a:t>
            </a:r>
            <a:r>
              <a:rPr lang="en-US" sz="1400" dirty="0">
                <a:solidFill>
                  <a:schemeClr val="tx1"/>
                </a:solidFill>
              </a:rPr>
              <a:t>IP/BGP, em laboratório (CML).</a:t>
            </a:r>
            <a:endParaRPr lang="en-US" sz="1400" dirty="0"/>
          </a:p>
        </p:txBody>
      </p:sp>
      <p:graphicFrame>
        <p:nvGraphicFramePr>
          <p:cNvPr id="8" name="tabela-protoco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80160"/>
          <a:ext cx="6583680" cy="4279392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3017520"/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Pergunta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Como foi medido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D1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É mais rápido e erra menos?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10 repetições: manual × script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D2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Detecta dados errados e falhas?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7 erros injetados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D3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Escala com mais clientes?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Lotes de 1, 5 e 10 (48 ativações)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D4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Mantém a rede padronizada?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3 rodadas, desvios sorteados às cegas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D5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 se uma borda falhar?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edge-1 isolada, 5 clientes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029200" y="5669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Médias e medianas em todos os tempos; registros completos no Apêndice 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peças, cada uma com um papel</a:t>
            </a:r>
            <a:endParaRPr lang="en-US" sz="3200" dirty="0"/>
          </a:p>
        </p:txBody>
      </p:sp>
      <p:sp>
        <p:nvSpPr>
          <p:cNvPr id="3" name="tool-YAML"/>
          <p:cNvSpPr/>
          <p:nvPr/>
        </p:nvSpPr>
        <p:spPr>
          <a:xfrm>
            <a:off x="548640" y="13716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-Jinja2"/>
          <p:cNvSpPr/>
          <p:nvPr/>
        </p:nvSpPr>
        <p:spPr>
          <a:xfrm>
            <a:off x="3383280" y="13716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ol-Netmiko"/>
          <p:cNvSpPr/>
          <p:nvPr/>
        </p:nvSpPr>
        <p:spPr>
          <a:xfrm>
            <a:off x="6217920" y="13716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ool-NAPALM"/>
          <p:cNvSpPr/>
          <p:nvPr/>
        </p:nvSpPr>
        <p:spPr>
          <a:xfrm>
            <a:off x="9052560" y="137160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ool-0-circ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ool-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YAML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Fonte da verdade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83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Dados dos clientes e inventário dos roteadores, versionados em Git</a:t>
            </a:r>
            <a:endParaRPr lang="en-US" sz="1500" dirty="0"/>
          </a:p>
        </p:txBody>
      </p:sp>
      <p:sp>
        <p:nvSpPr>
          <p:cNvPr id="12" name="tool-1-circ"/>
          <p:cNvSpPr/>
          <p:nvPr/>
        </p:nvSpPr>
        <p:spPr>
          <a:xfrm>
            <a:off x="361188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tool-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Jinja2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Gera a configuração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383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Modelo escrito uma vez; os dados preenchem as lacunas {{ }}</a:t>
            </a:r>
            <a:endParaRPr lang="en-US" sz="1500" dirty="0"/>
          </a:p>
        </p:txBody>
      </p:sp>
      <p:sp>
        <p:nvSpPr>
          <p:cNvPr id="17" name="tool-2-circ"/>
          <p:cNvSpPr/>
          <p:nvPr/>
        </p:nvSpPr>
        <p:spPr>
          <a:xfrm>
            <a:off x="644652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tool-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828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Netmiko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Aplica e verifica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383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Sessão SSH na CLI: envia comandos e consulta o resultado</a:t>
            </a:r>
            <a:endParaRPr lang="en-US" sz="1500" dirty="0"/>
          </a:p>
        </p:txBody>
      </p:sp>
      <p:sp>
        <p:nvSpPr>
          <p:cNvPr id="22" name="tool-3-circ"/>
          <p:cNvSpPr/>
          <p:nvPr/>
        </p:nvSpPr>
        <p:spPr>
          <a:xfrm>
            <a:off x="928116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tool-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8288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811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NAPALM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9281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Lê de forma estruturada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33832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Inventário (get_facts), backup e auditoria (get_config)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que não Ansible ou Nornir? </a:t>
            </a:r>
            <a:r>
              <a:rPr lang="en-US" sz="1500" dirty="0">
                <a:solidFill>
                  <a:schemeClr val="tx1"/>
                </a:solidFill>
              </a:rPr>
              <a:t>Custo zero, funciona no parque existente via SSH e deixa cada etapa visível no código, o que permite medi-las separadamente. O Nornir usa estas mesmas bibliotecas: é a evolução natural do fluxo.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core e borda de um ISP em escala reduzida</a:t>
            </a:r>
            <a:endParaRPr lang="en-US" sz="3200" dirty="0"/>
          </a:p>
        </p:txBody>
      </p:sp>
      <p:sp>
        <p:nvSpPr>
          <p:cNvPr id="3" name="l-e1"/>
          <p:cNvSpPr/>
          <p:nvPr/>
        </p:nvSpPr>
        <p:spPr>
          <a:xfrm flipH="1">
            <a:off x="1600200" y="2971800"/>
            <a:ext cx="2377440" cy="1508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l-e2"/>
          <p:cNvSpPr/>
          <p:nvPr/>
        </p:nvSpPr>
        <p:spPr>
          <a:xfrm>
            <a:off x="3977640" y="2971800"/>
            <a:ext cx="914" cy="1508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l-e3"/>
          <p:cNvSpPr/>
          <p:nvPr/>
        </p:nvSpPr>
        <p:spPr>
          <a:xfrm>
            <a:off x="3977640" y="2971800"/>
            <a:ext cx="2377440" cy="1508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6" name="n-linux"/>
          <p:cNvSpPr/>
          <p:nvPr/>
        </p:nvSpPr>
        <p:spPr>
          <a:xfrm>
            <a:off x="2606040" y="123444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34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Linux 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Python · Netmiko · NAPALM</a:t>
            </a:r>
            <a:endParaRPr lang="en-US" sz="1600" dirty="0"/>
          </a:p>
        </p:txBody>
      </p:sp>
      <p:sp>
        <p:nvSpPr>
          <p:cNvPr id="8" name="n-core"/>
          <p:cNvSpPr/>
          <p:nvPr/>
        </p:nvSpPr>
        <p:spPr>
          <a:xfrm>
            <a:off x="260604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21031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core-router 1.1.1.1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Route Reflector · NTP</a:t>
            </a:r>
            <a:endParaRPr lang="en-US" sz="1600" dirty="0"/>
          </a:p>
        </p:txBody>
      </p:sp>
      <p:sp>
        <p:nvSpPr>
          <p:cNvPr id="10" name="n-e1"/>
          <p:cNvSpPr/>
          <p:nvPr/>
        </p:nvSpPr>
        <p:spPr>
          <a:xfrm>
            <a:off x="548640" y="448056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80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edge-1 2.2.2.2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corporativo</a:t>
            </a:r>
            <a:endParaRPr lang="en-US" sz="1600" dirty="0"/>
          </a:p>
        </p:txBody>
      </p:sp>
      <p:sp>
        <p:nvSpPr>
          <p:cNvPr id="12" name="n-e2"/>
          <p:cNvSpPr/>
          <p:nvPr/>
        </p:nvSpPr>
        <p:spPr>
          <a:xfrm>
            <a:off x="2926080" y="448056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4480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edge-2 3.3.3.3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residencial</a:t>
            </a:r>
            <a:endParaRPr lang="en-US" sz="1600" dirty="0"/>
          </a:p>
        </p:txBody>
      </p:sp>
      <p:sp>
        <p:nvSpPr>
          <p:cNvPr id="14" name="n-e3"/>
          <p:cNvSpPr/>
          <p:nvPr/>
        </p:nvSpPr>
        <p:spPr>
          <a:xfrm>
            <a:off x="5303520" y="448056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4480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edge-3 4.4.4.4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peering · contingência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3"/>
                </a:solidFill>
              </a:rPr>
              <a:t>Clientes = Loopback1xx · 172.16.ID.0/24 anunciado no BGP</a:t>
            </a:r>
            <a:endParaRPr lang="en-US" sz="1400" dirty="0"/>
          </a:p>
        </p:txBody>
      </p:sp>
      <p:sp>
        <p:nvSpPr>
          <p:cNvPr id="17" name="specs"/>
          <p:cNvSpPr/>
          <p:nvPr/>
        </p:nvSpPr>
        <p:spPr>
          <a:xfrm>
            <a:off x="7955280" y="123444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1463040"/>
            <a:ext cx="3200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Cisco Modeling Labs 2.10 Free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limite de 5 nós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IOL-XE · IOS XE 17.18.2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OSPF área 0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só a infraestrutura (loopbacks)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iBGP AS 65001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prefixos dos clientes, via Route Reflector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Rastreabilidade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3"/>
                </a:solidFill>
              </a:rPr>
              <a:t>NTP no core, log de cada comando, Git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ativação em cinco etapas</a:t>
            </a:r>
            <a:endParaRPr lang="en-US" sz="3200" dirty="0"/>
          </a:p>
        </p:txBody>
      </p:sp>
      <p:sp>
        <p:nvSpPr>
          <p:cNvPr id="3" name="step-1"/>
          <p:cNvSpPr/>
          <p:nvPr/>
        </p:nvSpPr>
        <p:spPr>
          <a:xfrm>
            <a:off x="548640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n-1"/>
          <p:cNvSpPr/>
          <p:nvPr/>
        </p:nvSpPr>
        <p:spPr>
          <a:xfrm>
            <a:off x="123444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Campos, prefixo e roteador conferidos, sem tocar na rede</a:t>
            </a:r>
            <a:endParaRPr lang="en-US" sz="1400" dirty="0"/>
          </a:p>
        </p:txBody>
      </p:sp>
      <p:sp>
        <p:nvSpPr>
          <p:cNvPr id="8" name="arrow-0"/>
          <p:cNvSpPr/>
          <p:nvPr/>
        </p:nvSpPr>
        <p:spPr>
          <a:xfrm>
            <a:off x="2578608" y="274320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tep-2"/>
          <p:cNvSpPr/>
          <p:nvPr/>
        </p:nvSpPr>
        <p:spPr>
          <a:xfrm>
            <a:off x="2816352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n-2"/>
          <p:cNvSpPr/>
          <p:nvPr/>
        </p:nvSpPr>
        <p:spPr>
          <a:xfrm>
            <a:off x="3502152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Pré-check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Prefixo já em uso? Cliente já ativo?</a:t>
            </a:r>
            <a:endParaRPr lang="en-US" sz="1400" dirty="0"/>
          </a:p>
        </p:txBody>
      </p:sp>
      <p:sp>
        <p:nvSpPr>
          <p:cNvPr id="14" name="arrow-1"/>
          <p:cNvSpPr/>
          <p:nvPr/>
        </p:nvSpPr>
        <p:spPr>
          <a:xfrm>
            <a:off x="4846320" y="274320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-3"/>
          <p:cNvSpPr/>
          <p:nvPr/>
        </p:nvSpPr>
        <p:spPr>
          <a:xfrm>
            <a:off x="5084064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-n-3"/>
          <p:cNvSpPr/>
          <p:nvPr/>
        </p:nvSpPr>
        <p:spPr>
          <a:xfrm>
            <a:off x="5769864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98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Gerar e aplicar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Jinja2 monta os comandos; Netmiko envia à borda</a:t>
            </a:r>
            <a:endParaRPr lang="en-US" sz="1400" dirty="0"/>
          </a:p>
        </p:txBody>
      </p:sp>
      <p:sp>
        <p:nvSpPr>
          <p:cNvPr id="20" name="arrow-2"/>
          <p:cNvSpPr/>
          <p:nvPr/>
        </p:nvSpPr>
        <p:spPr>
          <a:xfrm>
            <a:off x="7114032" y="274320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step-4"/>
          <p:cNvSpPr/>
          <p:nvPr/>
        </p:nvSpPr>
        <p:spPr>
          <a:xfrm>
            <a:off x="7351776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-n-4"/>
          <p:cNvSpPr/>
          <p:nvPr/>
        </p:nvSpPr>
        <p:spPr>
          <a:xfrm>
            <a:off x="8037576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3757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43216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Verificar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No Route Reflector: prefixo no BGP e ping ≥ 80%</a:t>
            </a:r>
            <a:endParaRPr lang="en-US" sz="1400" dirty="0"/>
          </a:p>
        </p:txBody>
      </p:sp>
      <p:sp>
        <p:nvSpPr>
          <p:cNvPr id="26" name="arrow-3"/>
          <p:cNvSpPr/>
          <p:nvPr/>
        </p:nvSpPr>
        <p:spPr>
          <a:xfrm>
            <a:off x="9381744" y="2743200"/>
            <a:ext cx="21945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step-5"/>
          <p:cNvSpPr/>
          <p:nvPr/>
        </p:nvSpPr>
        <p:spPr>
          <a:xfrm>
            <a:off x="9619488" y="1463040"/>
            <a:ext cx="2011680" cy="283464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step-n-5"/>
          <p:cNvSpPr/>
          <p:nvPr/>
        </p:nvSpPr>
        <p:spPr>
          <a:xfrm>
            <a:off x="10305288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0528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710928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Decidir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29260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Passou: salva. Falhou: rollback automático</a:t>
            </a:r>
            <a:endParaRPr lang="en-US" sz="1400" dirty="0"/>
          </a:p>
        </p:txBody>
      </p:sp>
      <p:sp>
        <p:nvSpPr>
          <p:cNvPr id="32" name="code-entrada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709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(YAML)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101, nome: EMPRESA-ALFA, circuito: CORP-0101, velocidade: 100M, roteador: edge-router-1, prefixo: 172.16.101.0/24</a:t>
            </a:r>
            <a:endParaRPr lang="en-US" sz="1300" dirty="0"/>
          </a:p>
        </p:txBody>
      </p:sp>
      <p:sp>
        <p:nvSpPr>
          <p:cNvPr id="34" name="code-saida"/>
          <p:cNvSpPr/>
          <p:nvPr/>
        </p:nvSpPr>
        <p:spPr>
          <a:xfrm>
            <a:off x="621792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70916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(gerada pelo Jinja2)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Loopback101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description CLIENTE:EMPRESA-ALFA | CIRCUITO:CORP-0101 | VEL:100M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bgp 65001 / network 172.16.101.0 mask 255.255.255.0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· Proposta: manual × automatizado</a:t>
            </a:r>
            <a:endParaRPr lang="en-US" sz="3200" dirty="0"/>
          </a:p>
        </p:txBody>
      </p:sp>
      <p:sp>
        <p:nvSpPr>
          <p:cNvPr id="3" name="D1-pergunta"/>
          <p:cNvSpPr/>
          <p:nvPr/>
        </p:nvSpPr>
        <p:spPr>
          <a:xfrm>
            <a:off x="548640" y="1280160"/>
            <a:ext cx="3931920" cy="475488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/>
                </a:solidFill>
              </a:rPr>
              <a:t>PERGUNTA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 automação é mais rápida e erra menos que o processo manual?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foi feito</a:t>
            </a:r>
            <a:endParaRPr lang="en-US" sz="1800" dirty="0"/>
          </a:p>
        </p:txBody>
      </p:sp>
      <p:sp>
        <p:nvSpPr>
          <p:cNvPr id="8" name="D1-passo-1"/>
          <p:cNvSpPr/>
          <p:nvPr/>
        </p:nvSpPr>
        <p:spPr>
          <a:xfrm>
            <a:off x="4846320" y="1819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 mesmo cliente é ativado à mão, digitado a partir de uma ficha</a:t>
            </a:r>
            <a:endParaRPr lang="en-US" sz="1500" dirty="0"/>
          </a:p>
        </p:txBody>
      </p:sp>
      <p:sp>
        <p:nvSpPr>
          <p:cNvPr id="11" name="D1-passo-2"/>
          <p:cNvSpPr/>
          <p:nvPr/>
        </p:nvSpPr>
        <p:spPr>
          <a:xfrm>
            <a:off x="4846320" y="24780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4414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Cronômetro do início da configuração até a verificação OK no core</a:t>
            </a:r>
            <a:endParaRPr lang="en-US" sz="1500" dirty="0"/>
          </a:p>
        </p:txBody>
      </p:sp>
      <p:sp>
        <p:nvSpPr>
          <p:cNvPr id="14" name="D1-passo-3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0998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Em seguida, o mesmo cliente é ativado pelo script (03_ativar_cliente.py)</a:t>
            </a:r>
            <a:endParaRPr lang="en-US" sz="1500" dirty="0"/>
          </a:p>
        </p:txBody>
      </p:sp>
      <p:sp>
        <p:nvSpPr>
          <p:cNvPr id="17" name="D1-passo-4"/>
          <p:cNvSpPr/>
          <p:nvPr/>
        </p:nvSpPr>
        <p:spPr>
          <a:xfrm>
            <a:off x="484632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75818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10 repetições pareadas: R01–R05 na edge-1 e R06–R10 na edge-2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foi medido</a:t>
            </a:r>
            <a:endParaRPr lang="en-US" sz="1500" dirty="0"/>
          </a:p>
        </p:txBody>
      </p:sp>
      <p:sp>
        <p:nvSpPr>
          <p:cNvPr id="21" name="D1-medida-0"/>
          <p:cNvSpPr/>
          <p:nvPr/>
        </p:nvSpPr>
        <p:spPr>
          <a:xfrm>
            <a:off x="484632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 (média e mediana)</a:t>
            </a:r>
            <a:endParaRPr lang="en-US" sz="1400" dirty="0"/>
          </a:p>
        </p:txBody>
      </p:sp>
      <p:sp>
        <p:nvSpPr>
          <p:cNvPr id="23" name="D1-medida-1"/>
          <p:cNvSpPr/>
          <p:nvPr/>
        </p:nvSpPr>
        <p:spPr>
          <a:xfrm>
            <a:off x="714756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4756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Erros</a:t>
            </a:r>
            <a:endParaRPr lang="en-US" sz="1400" dirty="0"/>
          </a:p>
        </p:txBody>
      </p:sp>
      <p:sp>
        <p:nvSpPr>
          <p:cNvPr id="25" name="D1-medida-2"/>
          <p:cNvSpPr/>
          <p:nvPr/>
        </p:nvSpPr>
        <p:spPr>
          <a:xfrm>
            <a:off x="944880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4880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Configuração final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· Resultado: de 162,0 s para 5,7 s</a:t>
            </a:r>
            <a:endParaRPr lang="en-US" sz="3200" dirty="0"/>
          </a:p>
        </p:txBody>
      </p:sp>
      <p:sp>
        <p:nvSpPr>
          <p:cNvPr id="3" name="st-reducao"/>
          <p:cNvSpPr/>
          <p:nvPr/>
        </p:nvSpPr>
        <p:spPr>
          <a:xfrm>
            <a:off x="548640" y="132588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−96,5%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tempo médio (mediana: −94,7%)</a:t>
            </a:r>
            <a:endParaRPr lang="en-US" sz="1400" dirty="0"/>
          </a:p>
        </p:txBody>
      </p:sp>
      <p:sp>
        <p:nvSpPr>
          <p:cNvPr id="6" name="st-erros"/>
          <p:cNvSpPr/>
          <p:nvPr/>
        </p:nvSpPr>
        <p:spPr>
          <a:xfrm>
            <a:off x="548640" y="288036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erros: manual × automatizado</a:t>
            </a:r>
            <a:endParaRPr lang="en-US" sz="1400" dirty="0"/>
          </a:p>
        </p:txBody>
      </p:sp>
      <p:sp>
        <p:nvSpPr>
          <p:cNvPr id="9" name="st-dp"/>
          <p:cNvSpPr/>
          <p:nvPr/>
        </p:nvSpPr>
        <p:spPr>
          <a:xfrm>
            <a:off x="548640" y="443484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 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desvio padrão automático (manual: 124,5 s)</a:t>
            </a:r>
            <a:endParaRPr lang="en-US" sz="1400" dirty="0"/>
          </a:p>
        </p:txBody>
      </p:sp>
      <p:graphicFrame>
        <p:nvGraphicFramePr>
          <p:cNvPr id="12" name="grafico-d1"/>
          <p:cNvGraphicFramePr/>
          <p:nvPr/>
        </p:nvGraphicFramePr>
        <p:xfrm>
          <a:off x="3840480" y="1234440"/>
          <a:ext cx="7772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· Proposta: erros injetados</a:t>
            </a:r>
            <a:endParaRPr lang="en-US" sz="3200" dirty="0"/>
          </a:p>
        </p:txBody>
      </p:sp>
      <p:sp>
        <p:nvSpPr>
          <p:cNvPr id="3" name="D2-pergunta"/>
          <p:cNvSpPr/>
          <p:nvPr/>
        </p:nvSpPr>
        <p:spPr>
          <a:xfrm>
            <a:off x="548640" y="1280160"/>
            <a:ext cx="3931920" cy="475488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/>
                </a:solidFill>
              </a:rPr>
              <a:t>PERGUNTA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O fluxo detecta dados errados e falhas de rede?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foi feito</a:t>
            </a:r>
            <a:endParaRPr lang="en-US" sz="1800" dirty="0"/>
          </a:p>
        </p:txBody>
      </p:sp>
      <p:sp>
        <p:nvSpPr>
          <p:cNvPr id="8" name="D2-passo-1"/>
          <p:cNvSpPr/>
          <p:nvPr/>
        </p:nvSpPr>
        <p:spPr>
          <a:xfrm>
            <a:off x="4846320" y="1819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7 cenários de erro, aplicados um de cada vez</a:t>
            </a:r>
            <a:endParaRPr lang="en-US" sz="1500" dirty="0"/>
          </a:p>
        </p:txBody>
      </p:sp>
      <p:sp>
        <p:nvSpPr>
          <p:cNvPr id="11" name="D2-passo-2"/>
          <p:cNvSpPr/>
          <p:nvPr/>
        </p:nvSpPr>
        <p:spPr>
          <a:xfrm>
            <a:off x="4846320" y="24780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4414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4 erros de dados: octeto inválido, bits de host, roteador inexistente, campo ausente</a:t>
            </a:r>
            <a:endParaRPr lang="en-US" sz="1500" dirty="0"/>
          </a:p>
        </p:txBody>
      </p:sp>
      <p:sp>
        <p:nvSpPr>
          <p:cNvPr id="14" name="D2-passo-3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0998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 conflitos com a rede: prefixo já usado e cliente ativado duas vezes</a:t>
            </a:r>
            <a:endParaRPr lang="en-US" sz="1500" dirty="0"/>
          </a:p>
        </p:txBody>
      </p:sp>
      <p:sp>
        <p:nvSpPr>
          <p:cNvPr id="17" name="D2-passo-4"/>
          <p:cNvSpPr/>
          <p:nvPr/>
        </p:nvSpPr>
        <p:spPr>
          <a:xfrm>
            <a:off x="484632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75818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 falha de rede: sessão BGP da borda derrubada antes da ativação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foi medido</a:t>
            </a:r>
            <a:endParaRPr lang="en-US" sz="1500" dirty="0"/>
          </a:p>
        </p:txBody>
      </p:sp>
      <p:sp>
        <p:nvSpPr>
          <p:cNvPr id="21" name="D2-medida-0"/>
          <p:cNvSpPr/>
          <p:nvPr/>
        </p:nvSpPr>
        <p:spPr>
          <a:xfrm>
            <a:off x="484632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Etapa que barrou</a:t>
            </a:r>
            <a:endParaRPr lang="en-US" sz="1400" dirty="0"/>
          </a:p>
        </p:txBody>
      </p:sp>
      <p:sp>
        <p:nvSpPr>
          <p:cNvPr id="23" name="D2-medida-1"/>
          <p:cNvSpPr/>
          <p:nvPr/>
        </p:nvSpPr>
        <p:spPr>
          <a:xfrm>
            <a:off x="714756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4756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</a:t>
            </a:r>
            <a:endParaRPr lang="en-US" sz="1400" dirty="0"/>
          </a:p>
        </p:txBody>
      </p:sp>
      <p:sp>
        <p:nvSpPr>
          <p:cNvPr id="25" name="D2-medida-2"/>
          <p:cNvSpPr/>
          <p:nvPr/>
        </p:nvSpPr>
        <p:spPr>
          <a:xfrm>
            <a:off x="944880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4880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Sobrou configuração?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· Resultado: 7 de 7 erros barrados</a:t>
            </a:r>
            <a:endParaRPr lang="en-US" sz="3200" dirty="0"/>
          </a:p>
        </p:txBody>
      </p:sp>
      <p:graphicFrame>
        <p:nvGraphicFramePr>
          <p:cNvPr id="11" name="tabela-d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223760" cy="4389120"/>
        </p:xfrm>
        <a:graphic>
          <a:graphicData uri="http://schemas.openxmlformats.org/drawingml/2006/table">
            <a:tbl>
              <a:tblPr/>
              <a:tblGrid>
                <a:gridCol w="731520"/>
                <a:gridCol w="3566160"/>
                <a:gridCol w="1920240"/>
                <a:gridCol w="100584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Erro injetado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Barrado em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Tempo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Prefixo com octeto inválido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Validação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0,00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Prefixo com bits de host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Validação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0,00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Roteador inexistente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Validação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0,00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Prefixo já usado por outro cliente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Pré-check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1,11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Campo obrigatório ausente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Validação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0,00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Sessão BGP da borda derrubada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Verificação + rollback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51,96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E7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Cliente ativado duas vezes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Pré-check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1,11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2-destaque"/>
          <p:cNvSpPr/>
          <p:nvPr/>
        </p:nvSpPr>
        <p:spPr>
          <a:xfrm>
            <a:off x="8138160" y="1325880"/>
            <a:ext cx="3474720" cy="438912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4 barrados antes de acessar a rede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 barrados no pré-check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1 detectado e desfeito sozinho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Nenhuma configuração incorreta ficou nos roteadores.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· Proposta: escala em lotes</a:t>
            </a:r>
            <a:endParaRPr lang="en-US" sz="3200" dirty="0"/>
          </a:p>
        </p:txBody>
      </p:sp>
      <p:sp>
        <p:nvSpPr>
          <p:cNvPr id="3" name="D3-pergunta"/>
          <p:cNvSpPr/>
          <p:nvPr/>
        </p:nvSpPr>
        <p:spPr>
          <a:xfrm>
            <a:off x="548640" y="1280160"/>
            <a:ext cx="3931920" cy="475488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/>
                </a:solidFill>
              </a:rPr>
              <a:t>PERGUNTA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O fluxo escala com o número de clientes?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foi feito</a:t>
            </a:r>
            <a:endParaRPr lang="en-US" sz="1800" dirty="0"/>
          </a:p>
        </p:txBody>
      </p:sp>
      <p:sp>
        <p:nvSpPr>
          <p:cNvPr id="8" name="D3-passo-1"/>
          <p:cNvSpPr/>
          <p:nvPr/>
        </p:nvSpPr>
        <p:spPr>
          <a:xfrm>
            <a:off x="4846320" y="1819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Lotes de 1, 5 e 10 clientes, ativados em sequência pelo script</a:t>
            </a:r>
            <a:endParaRPr lang="en-US" sz="1500" dirty="0"/>
          </a:p>
        </p:txBody>
      </p:sp>
      <p:sp>
        <p:nvSpPr>
          <p:cNvPr id="11" name="D3-passo-2"/>
          <p:cNvSpPr/>
          <p:nvPr/>
        </p:nvSpPr>
        <p:spPr>
          <a:xfrm>
            <a:off x="4846320" y="24780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4414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3 repetições de cada tamanho: 9 lotes, 48 ativações</a:t>
            </a:r>
            <a:endParaRPr lang="en-US" sz="1500" dirty="0"/>
          </a:p>
        </p:txBody>
      </p:sp>
      <p:sp>
        <p:nvSpPr>
          <p:cNvPr id="14" name="D3-passo-3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0998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Cada cliente passa pelo fluxo completo de 5 etapas, com verificação no RR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foi medido</a:t>
            </a:r>
            <a:endParaRPr lang="en-US" sz="1500" dirty="0"/>
          </a:p>
        </p:txBody>
      </p:sp>
      <p:sp>
        <p:nvSpPr>
          <p:cNvPr id="18" name="D3-medida-0"/>
          <p:cNvSpPr/>
          <p:nvPr/>
        </p:nvSpPr>
        <p:spPr>
          <a:xfrm>
            <a:off x="484632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 do lote</a:t>
            </a:r>
            <a:endParaRPr lang="en-US" sz="1400" dirty="0"/>
          </a:p>
        </p:txBody>
      </p:sp>
      <p:sp>
        <p:nvSpPr>
          <p:cNvPr id="20" name="D3-medida-1"/>
          <p:cNvSpPr/>
          <p:nvPr/>
        </p:nvSpPr>
        <p:spPr>
          <a:xfrm>
            <a:off x="714756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4756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 por cliente</a:t>
            </a:r>
            <a:endParaRPr lang="en-US" sz="1400" dirty="0"/>
          </a:p>
        </p:txBody>
      </p:sp>
      <p:sp>
        <p:nvSpPr>
          <p:cNvPr id="22" name="D3-medida-2"/>
          <p:cNvSpPr/>
          <p:nvPr/>
        </p:nvSpPr>
        <p:spPr>
          <a:xfrm>
            <a:off x="944880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4880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Ajuste linear (R²)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· Resultado: ≈ 5,7 s por cliente, linear</a:t>
            </a:r>
            <a:endParaRPr lang="en-US" sz="3200" dirty="0"/>
          </a:p>
        </p:txBody>
      </p:sp>
      <p:graphicFrame>
        <p:nvGraphicFramePr>
          <p:cNvPr id="3" name="grafico-d3"/>
          <p:cNvGraphicFramePr/>
          <p:nvPr/>
        </p:nvGraphicFramePr>
        <p:xfrm>
          <a:off x="548640" y="128016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-d3-ok"/>
          <p:cNvSpPr/>
          <p:nvPr/>
        </p:nvSpPr>
        <p:spPr>
          <a:xfrm>
            <a:off x="8046720" y="132588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48/48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ativações concluídas em 9 lotes</a:t>
            </a:r>
            <a:endParaRPr lang="en-US" sz="1400" dirty="0"/>
          </a:p>
        </p:txBody>
      </p:sp>
      <p:sp>
        <p:nvSpPr>
          <p:cNvPr id="7" name="st-d3-r2"/>
          <p:cNvSpPr/>
          <p:nvPr/>
        </p:nvSpPr>
        <p:spPr>
          <a:xfrm>
            <a:off x="8046720" y="288036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2971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0,97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ajuste linear do tempo total</a:t>
            </a:r>
            <a:endParaRPr lang="en-US" sz="1400" dirty="0"/>
          </a:p>
        </p:txBody>
      </p:sp>
      <p:sp>
        <p:nvSpPr>
          <p:cNvPr id="10" name="st-d3-proj"/>
          <p:cNvSpPr/>
          <p:nvPr/>
        </p:nvSpPr>
        <p:spPr>
          <a:xfrm>
            <a:off x="8046720" y="443484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4526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9,5 min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projeção para 100 ativações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· Proposta: auditoria de conformidade</a:t>
            </a:r>
            <a:endParaRPr lang="en-US" sz="3200" dirty="0"/>
          </a:p>
        </p:txBody>
      </p:sp>
      <p:sp>
        <p:nvSpPr>
          <p:cNvPr id="3" name="D4-pergunta"/>
          <p:cNvSpPr/>
          <p:nvPr/>
        </p:nvSpPr>
        <p:spPr>
          <a:xfrm>
            <a:off x="548640" y="1280160"/>
            <a:ext cx="3931920" cy="475488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/>
                </a:solidFill>
              </a:rPr>
              <a:t>PERGUNTA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 automação ajuda a manter a rede padronizada?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foi feito</a:t>
            </a:r>
            <a:endParaRPr lang="en-US" sz="1800" dirty="0"/>
          </a:p>
        </p:txBody>
      </p:sp>
      <p:sp>
        <p:nvSpPr>
          <p:cNvPr id="8" name="D4-passo-1"/>
          <p:cNvSpPr/>
          <p:nvPr/>
        </p:nvSpPr>
        <p:spPr>
          <a:xfrm>
            <a:off x="4846320" y="1819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Auditoria de base: a rede começa conforme o padrão (8 regras + 1 aviso)</a:t>
            </a:r>
            <a:endParaRPr lang="en-US" sz="1500" dirty="0"/>
          </a:p>
        </p:txBody>
      </p:sp>
      <p:sp>
        <p:nvSpPr>
          <p:cNvPr id="11" name="D4-passo-2"/>
          <p:cNvSpPr/>
          <p:nvPr/>
        </p:nvSpPr>
        <p:spPr>
          <a:xfrm>
            <a:off x="4846320" y="24780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4414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 script sorteia 2 a 4 desvios entre 20 combinações, sem revelar quais</a:t>
            </a:r>
            <a:endParaRPr lang="en-US" sz="1500" dirty="0"/>
          </a:p>
        </p:txBody>
      </p:sp>
      <p:sp>
        <p:nvSpPr>
          <p:cNvPr id="14" name="D4-passo-3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0998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Auditoria manual cronometrada; achados registrados no terminal</a:t>
            </a:r>
            <a:endParaRPr lang="en-US" sz="1500" dirty="0"/>
          </a:p>
        </p:txBody>
      </p:sp>
      <p:sp>
        <p:nvSpPr>
          <p:cNvPr id="17" name="D4-passo-4"/>
          <p:cNvSpPr/>
          <p:nvPr/>
        </p:nvSpPr>
        <p:spPr>
          <a:xfrm>
            <a:off x="484632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75818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Auditoria automatizada: NAPALM lê os 4 roteadores e aplica as regras</a:t>
            </a:r>
            <a:endParaRPr lang="en-US" sz="1500" dirty="0"/>
          </a:p>
        </p:txBody>
      </p:sp>
      <p:sp>
        <p:nvSpPr>
          <p:cNvPr id="20" name="D4-passo-5"/>
          <p:cNvSpPr/>
          <p:nvPr/>
        </p:nvSpPr>
        <p:spPr>
          <a:xfrm>
            <a:off x="4846320" y="4453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4165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Gabarito revelado, comparação e reversão. 3 rodadas (piloto descartado)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foi medido</a:t>
            </a:r>
            <a:endParaRPr lang="en-US" sz="1500" dirty="0"/>
          </a:p>
        </p:txBody>
      </p:sp>
      <p:sp>
        <p:nvSpPr>
          <p:cNvPr id="24" name="D4-medida-0"/>
          <p:cNvSpPr/>
          <p:nvPr/>
        </p:nvSpPr>
        <p:spPr>
          <a:xfrm>
            <a:off x="484632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Desvios detectados</a:t>
            </a:r>
            <a:endParaRPr lang="en-US" sz="1400" dirty="0"/>
          </a:p>
        </p:txBody>
      </p:sp>
      <p:sp>
        <p:nvSpPr>
          <p:cNvPr id="26" name="D4-medida-1"/>
          <p:cNvSpPr/>
          <p:nvPr/>
        </p:nvSpPr>
        <p:spPr>
          <a:xfrm>
            <a:off x="714756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4756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Falsos positivos</a:t>
            </a:r>
            <a:endParaRPr lang="en-US" sz="1400" dirty="0"/>
          </a:p>
        </p:txBody>
      </p:sp>
      <p:sp>
        <p:nvSpPr>
          <p:cNvPr id="28" name="D4-medida-2"/>
          <p:cNvSpPr/>
          <p:nvPr/>
        </p:nvSpPr>
        <p:spPr>
          <a:xfrm>
            <a:off x="944880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4880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· As regras do padrão auditadas</a:t>
            </a:r>
            <a:endParaRPr lang="en-US" sz="3200" dirty="0"/>
          </a:p>
        </p:txBody>
      </p:sp>
      <p:graphicFrame>
        <p:nvGraphicFramePr>
          <p:cNvPr id="15" name="tabela-regras-d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4389120"/>
        </p:xfrm>
        <a:graphic>
          <a:graphicData uri="http://schemas.openxmlformats.org/drawingml/2006/table">
            <a:tbl>
              <a:tblPr/>
              <a:tblGrid>
                <a:gridCol w="685800"/>
                <a:gridCol w="3429000"/>
                <a:gridCol w="4572000"/>
                <a:gridCol w="914400"/>
                <a:gridCol w="146304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Por que importa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Onde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Desvio injetado?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C01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no ip domain lookup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Erro de digitação não trava o terminal buscando DNS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C02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logging buffered 64000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Eventos guardados no roteador para investigar falhas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C03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Log com data e milissegundos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Comparar registros de equipamentos diferentes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C04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Usuário admin com privilégio 15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Acesso administrativo padronizado (usado pelo script)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11C"/>
                          </a:solidFill>
                        </a:rPr>
                        <a:t>Não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C05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Acesso remoto com login local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 acesso remoto exige usuário e senha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9711C"/>
                          </a:solidFill>
                        </a:rPr>
                        <a:t>Não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C06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Acesso remoto somente por SSH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Telnet trafega a senha em texto aberto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C07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Core como servidor NTP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Horário único em toda a rede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Core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C08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Descrição padrão nas interfaces de cliente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Identifica cliente, circuito e velocidade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Bordas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86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A01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Servidor HTTP desabilitado (aviso)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Recomendação: menos portas abertas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Todos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63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32 verificações por auditoria </a:t>
            </a:r>
            <a:r>
              <a:rPr lang="en-US" sz="1400" dirty="0">
                <a:solidFill>
                  <a:schemeClr val="tx1"/>
                </a:solidFill>
              </a:rPr>
              <a:t>(8 por roteador). C04 e C05 são auditadas, mas não viram desvio: cortariam o acesso do próprio script. A01 é só aviso.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· Resultado: 4 s contra quase 6 minutos</a:t>
            </a:r>
            <a:endParaRPr lang="en-US" sz="3200" dirty="0"/>
          </a:p>
        </p:txBody>
      </p:sp>
      <p:sp>
        <p:nvSpPr>
          <p:cNvPr id="3" name="d4-manual"/>
          <p:cNvSpPr/>
          <p:nvPr/>
        </p:nvSpPr>
        <p:spPr>
          <a:xfrm>
            <a:off x="548640" y="13258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Manual (operador)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de 9 · 346,1 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78% dos desvios · mediana 371,2 s · 0 falsos positivos</a:t>
            </a:r>
            <a:endParaRPr lang="en-US" sz="1600" dirty="0"/>
          </a:p>
        </p:txBody>
      </p:sp>
      <p:sp>
        <p:nvSpPr>
          <p:cNvPr id="7" name="d4-auto"/>
          <p:cNvSpPr/>
          <p:nvPr/>
        </p:nvSpPr>
        <p:spPr>
          <a:xfrm>
            <a:off x="6217920" y="13258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Automatizada (NAPALM)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9 · 4,3 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100% dos desvios · 32 verificações · 0 falsos positivos</a:t>
            </a:r>
            <a:endParaRPr lang="en-US" sz="1600" dirty="0"/>
          </a:p>
        </p:txBody>
      </p:sp>
      <p:graphicFrame>
        <p:nvGraphicFramePr>
          <p:cNvPr id="16" name="tabela-d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694944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Rodada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Desvios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Manual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Automatizado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2 de 3 · 371,2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3 de 3 · 4,4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3 de 4 · 405,6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4 de 4 · 4,2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2 de 2 · 261,5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2 de 2 · 4,3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7772400" y="38862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Os 2 desvios perdidos estavam na tela: </a:t>
            </a:r>
            <a:r>
              <a:rPr lang="en-US" sz="1500" dirty="0">
                <a:solidFill>
                  <a:schemeClr val="tx1"/>
                </a:solidFill>
              </a:rPr>
              <a:t>loopback sem descrição e Telnet liberado no core.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Achado real: </a:t>
            </a:r>
            <a:r>
              <a:rPr lang="en-US" sz="1500" dirty="0">
                <a:solidFill>
                  <a:schemeClr val="tx1"/>
                </a:solidFill>
              </a:rPr>
              <a:t>ip http server habilitado nos 4 roteadores (aviso A01).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· Proposta: falha de uma borda</a:t>
            </a:r>
            <a:endParaRPr lang="en-US" sz="3200" dirty="0"/>
          </a:p>
        </p:txBody>
      </p:sp>
      <p:sp>
        <p:nvSpPr>
          <p:cNvPr id="3" name="D5-pergunta"/>
          <p:cNvSpPr/>
          <p:nvPr/>
        </p:nvSpPr>
        <p:spPr>
          <a:xfrm>
            <a:off x="548640" y="1280160"/>
            <a:ext cx="3931920" cy="475488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6"/>
                </a:solidFill>
              </a:rPr>
              <a:t>PERGUNTA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O que o fluxo faz se a borda do cliente estiver fora do ar?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Como foi feito</a:t>
            </a:r>
            <a:endParaRPr lang="en-US" sz="1800" dirty="0"/>
          </a:p>
        </p:txBody>
      </p:sp>
      <p:sp>
        <p:nvSpPr>
          <p:cNvPr id="8" name="D5-passo-1"/>
          <p:cNvSpPr/>
          <p:nvPr/>
        </p:nvSpPr>
        <p:spPr>
          <a:xfrm>
            <a:off x="4846320" y="1819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830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5 clientes: 2 com acesso redundante (edge-1 e edge-3), 1 só na edge-1, 2 na edge-2</a:t>
            </a:r>
            <a:endParaRPr lang="en-US" sz="1500" dirty="0"/>
          </a:p>
        </p:txBody>
      </p:sp>
      <p:sp>
        <p:nvSpPr>
          <p:cNvPr id="11" name="D5-passo-2"/>
          <p:cNvSpPr/>
          <p:nvPr/>
        </p:nvSpPr>
        <p:spPr>
          <a:xfrm>
            <a:off x="4846320" y="24780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44144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Controle: os 5 ativados com a rede normal</a:t>
            </a:r>
            <a:endParaRPr lang="en-US" sz="1500" dirty="0"/>
          </a:p>
        </p:txBody>
      </p:sp>
      <p:sp>
        <p:nvSpPr>
          <p:cNvPr id="14" name="D5-passo-3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0998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Falha: edge-1 isolada (interface do core desligada)</a:t>
            </a:r>
            <a:endParaRPr lang="en-US" sz="1500" dirty="0"/>
          </a:p>
        </p:txBody>
      </p:sp>
      <p:sp>
        <p:nvSpPr>
          <p:cNvPr id="17" name="D5-passo-4"/>
          <p:cNvSpPr/>
          <p:nvPr/>
        </p:nvSpPr>
        <p:spPr>
          <a:xfrm>
            <a:off x="4846320" y="3794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75818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Antes de configurar, o script testa se o roteador principal está no ar (SSH, espera até 5 s)</a:t>
            </a:r>
            <a:endParaRPr lang="en-US" sz="1500" dirty="0"/>
          </a:p>
        </p:txBody>
      </p:sp>
      <p:sp>
        <p:nvSpPr>
          <p:cNvPr id="20" name="D5-passo-5"/>
          <p:cNvSpPr/>
          <p:nvPr/>
        </p:nvSpPr>
        <p:spPr>
          <a:xfrm>
            <a:off x="4846320" y="4453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4165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Decide pelo cadastro: principal, contingência ou falha segura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120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foi medido</a:t>
            </a:r>
            <a:endParaRPr lang="en-US" sz="1500" dirty="0"/>
          </a:p>
        </p:txBody>
      </p:sp>
      <p:sp>
        <p:nvSpPr>
          <p:cNvPr id="24" name="D5-medida-0"/>
          <p:cNvSpPr/>
          <p:nvPr/>
        </p:nvSpPr>
        <p:spPr>
          <a:xfrm>
            <a:off x="484632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Decisão por cliente</a:t>
            </a:r>
            <a:endParaRPr lang="en-US" sz="1400" dirty="0"/>
          </a:p>
        </p:txBody>
      </p:sp>
      <p:sp>
        <p:nvSpPr>
          <p:cNvPr id="26" name="D5-medida-1"/>
          <p:cNvSpPr/>
          <p:nvPr/>
        </p:nvSpPr>
        <p:spPr>
          <a:xfrm>
            <a:off x="714756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4756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 de detecção</a:t>
            </a:r>
            <a:endParaRPr lang="en-US" sz="1400" dirty="0"/>
          </a:p>
        </p:txBody>
      </p:sp>
      <p:sp>
        <p:nvSpPr>
          <p:cNvPr id="28" name="D5-medida-2"/>
          <p:cNvSpPr/>
          <p:nvPr/>
        </p:nvSpPr>
        <p:spPr>
          <a:xfrm>
            <a:off x="9448800" y="5486400"/>
            <a:ext cx="2164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48800" y="5486400"/>
            <a:ext cx="2164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Configuração parcial?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· Resultado: decisão certa por cliente</a:t>
            </a:r>
            <a:endParaRPr lang="en-US" sz="3200" dirty="0"/>
          </a:p>
        </p:txBody>
      </p:sp>
      <p:graphicFrame>
        <p:nvGraphicFramePr>
          <p:cNvPr id="18" name="tabela-d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3017520"/>
                <a:gridCol w="36576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Cliente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Acesso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Rede normal (controle)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Edge-1 isolada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111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Redundante (edge-1 e edge-3)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3,75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Contingência na edge-3 · OK · 3,72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112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Redundante (edge-1 e edge-3)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3,40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Contingência na edge-3 · OK · 3,66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113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Circuito único (edge-1)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3,38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Falha segura: nada aplicado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1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114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Circuito único (edge-2)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3,34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6,87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115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Circuito único (edge-2)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3,76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Principal · OK · 6,71 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5-a-circ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d5-a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063490"/>
            <a:ext cx="342900" cy="3429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4800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Detecção em 0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 core respondeu destino inalcançável (ICMP)</a:t>
            </a:r>
            <a:endParaRPr lang="en-US" sz="1400" dirty="0"/>
          </a:p>
        </p:txBody>
      </p:sp>
      <p:sp>
        <p:nvSpPr>
          <p:cNvPr id="7" name="d5-b-circ"/>
          <p:cNvSpPr/>
          <p:nvPr/>
        </p:nvSpPr>
        <p:spPr>
          <a:xfrm>
            <a:off x="4297680" y="4892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d5-b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130" y="5063490"/>
            <a:ext cx="342900" cy="342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166360" y="4800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Decisão vem do 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roteador de contingência cadastrado, não escolhido sob pressão</a:t>
            </a:r>
            <a:endParaRPr lang="en-US" sz="1400" dirty="0"/>
          </a:p>
        </p:txBody>
      </p:sp>
      <p:sp>
        <p:nvSpPr>
          <p:cNvPr id="10" name="d5-c-circ"/>
          <p:cNvSpPr/>
          <p:nvPr/>
        </p:nvSpPr>
        <p:spPr>
          <a:xfrm>
            <a:off x="8046720" y="48920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5-c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170" y="5063490"/>
            <a:ext cx="342900" cy="3429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915400" y="4800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Nada pela metade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nenhum cliente com configuração parcial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Demonstração: do YAML ao Route Reflector</a:t>
            </a:r>
            <a:endParaRPr lang="en-US" sz="3200" dirty="0"/>
          </a:p>
        </p:txBody>
      </p:sp>
      <p:sp>
        <p:nvSpPr>
          <p:cNvPr id="5" name="cena-1"/>
          <p:cNvSpPr/>
          <p:nvPr/>
        </p:nvSpPr>
        <p:spPr>
          <a:xfrm>
            <a:off x="877824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Dados do cliente no YAML</a:t>
            </a:r>
            <a:endParaRPr lang="en-US" sz="1500" dirty="0"/>
          </a:p>
        </p:txBody>
      </p:sp>
      <p:sp>
        <p:nvSpPr>
          <p:cNvPr id="8" name="cena-2"/>
          <p:cNvSpPr/>
          <p:nvPr/>
        </p:nvSpPr>
        <p:spPr>
          <a:xfrm>
            <a:off x="877824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4640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Modelo Jinja2</a:t>
            </a:r>
            <a:endParaRPr lang="en-US" sz="1500" dirty="0"/>
          </a:p>
        </p:txBody>
      </p:sp>
      <p:sp>
        <p:nvSpPr>
          <p:cNvPr id="11" name="cena-3"/>
          <p:cNvSpPr/>
          <p:nvPr/>
        </p:nvSpPr>
        <p:spPr>
          <a:xfrm>
            <a:off x="877824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4640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Ativação com verificação</a:t>
            </a:r>
            <a:endParaRPr lang="en-US" sz="1500" dirty="0"/>
          </a:p>
        </p:txBody>
      </p:sp>
      <p:sp>
        <p:nvSpPr>
          <p:cNvPr id="14" name="cena-4"/>
          <p:cNvSpPr/>
          <p:nvPr/>
        </p:nvSpPr>
        <p:spPr>
          <a:xfrm>
            <a:off x="877824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Prova no core (RR)</a:t>
            </a:r>
            <a:endParaRPr lang="en-US" sz="1500" dirty="0"/>
          </a:p>
        </p:txBody>
      </p:sp>
      <p:sp>
        <p:nvSpPr>
          <p:cNvPr id="17" name="cena-5"/>
          <p:cNvSpPr/>
          <p:nvPr/>
        </p:nvSpPr>
        <p:spPr>
          <a:xfrm>
            <a:off x="8778240" y="4023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Pré-check: REJEITADO</a:t>
            </a:r>
            <a:endParaRPr lang="en-US" sz="1500" dirty="0"/>
          </a:p>
        </p:txBody>
      </p:sp>
      <p:sp>
        <p:nvSpPr>
          <p:cNvPr id="20" name="cena-6"/>
          <p:cNvSpPr/>
          <p:nvPr/>
        </p:nvSpPr>
        <p:spPr>
          <a:xfrm>
            <a:off x="8778240" y="4709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Auditoria dos 4 roteadores</a:t>
            </a:r>
            <a:endParaRPr lang="en-US" sz="1500" dirty="0"/>
          </a:p>
        </p:txBody>
      </p:sp>
      <p:sp>
        <p:nvSpPr>
          <p:cNvPr id="23" name="cena-7"/>
          <p:cNvSpPr/>
          <p:nvPr/>
        </p:nvSpPr>
        <p:spPr>
          <a:xfrm>
            <a:off x="8778240" y="5394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64040" y="5394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Limpeza do cliente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27" name="Demo_TCC_Gabriel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240155"/>
            <a:ext cx="7863840" cy="4834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e limitações</a:t>
            </a:r>
            <a:endParaRPr lang="en-US" sz="3200" dirty="0"/>
          </a:p>
        </p:txBody>
      </p:sp>
      <p:sp>
        <p:nvSpPr>
          <p:cNvPr id="3" name="lim-0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-0-circ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lim-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Escala do laboratório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48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CML Free com 5 nós: sem roteador do cliente nem AS externo; imagens virtuais, não equipamentos de alta capacidade.</a:t>
            </a:r>
            <a:endParaRPr lang="en-US" sz="1500" dirty="0"/>
          </a:p>
        </p:txBody>
      </p:sp>
      <p:sp>
        <p:nvSpPr>
          <p:cNvPr id="8" name="lim-1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-1-circ"/>
          <p:cNvSpPr/>
          <p:nvPr/>
        </p:nvSpPr>
        <p:spPr>
          <a:xfrm>
            <a:off x="649224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lim-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 único operador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148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Quem mediu o manual também fez a automação: é o melhor caso do manual, e o ganho medido tende a ser conservador.</a:t>
            </a:r>
            <a:endParaRPr lang="en-US" sz="1500" dirty="0"/>
          </a:p>
        </p:txBody>
      </p:sp>
      <p:sp>
        <p:nvSpPr>
          <p:cNvPr id="13" name="lim-2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-2-circ"/>
          <p:cNvSpPr/>
          <p:nvPr/>
        </p:nvSpPr>
        <p:spPr>
          <a:xfrm>
            <a:off x="822960" y="3977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lim-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4149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Regras e cenários restritos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4480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8 regras no D4 (C04 e C05 não injetadas, para não cortar o acesso); D5 com um único cenário de falha.</a:t>
            </a:r>
            <a:endParaRPr lang="en-US" sz="1500" dirty="0"/>
          </a:p>
        </p:txBody>
      </p:sp>
      <p:sp>
        <p:nvSpPr>
          <p:cNvPr id="18" name="lim-3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im-3-circ"/>
          <p:cNvSpPr/>
          <p:nvPr/>
        </p:nvSpPr>
        <p:spPr>
          <a:xfrm>
            <a:off x="649224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lim-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0" y="41490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Onde está o tempo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480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configuração leva ~3 s; o resto é esperar a rede convergir e confirmar o serviço.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vai além da velocidade</a:t>
            </a:r>
            <a:endParaRPr lang="en-US" sz="3200" dirty="0"/>
          </a:p>
        </p:txBody>
      </p:sp>
      <p:sp>
        <p:nvSpPr>
          <p:cNvPr id="3" name="ganho-0"/>
          <p:cNvSpPr/>
          <p:nvPr/>
        </p:nvSpPr>
        <p:spPr>
          <a:xfrm>
            <a:off x="548640" y="128016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anho-0-circ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ganho-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Padronização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configuração vem dos dados: erro de digitação ou de equipamento deixa de ser possível.</a:t>
            </a:r>
            <a:endParaRPr lang="en-US" sz="1400" dirty="0"/>
          </a:p>
        </p:txBody>
      </p:sp>
      <p:sp>
        <p:nvSpPr>
          <p:cNvPr id="8" name="ganho-1"/>
          <p:cNvSpPr/>
          <p:nvPr/>
        </p:nvSpPr>
        <p:spPr>
          <a:xfrm>
            <a:off x="4297680" y="128016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ganho-1-circ"/>
          <p:cNvSpPr/>
          <p:nvPr/>
        </p:nvSpPr>
        <p:spPr>
          <a:xfrm>
            <a:off x="45720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ganho-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Verificação sistemática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Nada é dado como concluído sem prova no Route Reflector.</a:t>
            </a:r>
            <a:endParaRPr lang="en-US" sz="1400" dirty="0"/>
          </a:p>
        </p:txBody>
      </p:sp>
      <p:sp>
        <p:nvSpPr>
          <p:cNvPr id="13" name="ganho-2"/>
          <p:cNvSpPr/>
          <p:nvPr/>
        </p:nvSpPr>
        <p:spPr>
          <a:xfrm>
            <a:off x="8046720" y="128016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anho-2-circ"/>
          <p:cNvSpPr/>
          <p:nvPr/>
        </p:nvSpPr>
        <p:spPr>
          <a:xfrm>
            <a:off x="83210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ganho-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16230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Rollback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06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a verificação falha, a mudança é desfeita sozinha.</a:t>
            </a:r>
            <a:endParaRPr lang="en-US" sz="1400" dirty="0"/>
          </a:p>
        </p:txBody>
      </p:sp>
      <p:sp>
        <p:nvSpPr>
          <p:cNvPr id="18" name="adocao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Para o PROVEDOR</a:t>
            </a:r>
            <a:endParaRPr lang="en-US" sz="1500" dirty="0"/>
          </a:p>
        </p:txBody>
      </p:sp>
      <p:sp>
        <p:nvSpPr>
          <p:cNvPr id="20" name="adocao-n0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Auditoria (só leitura)</a:t>
            </a:r>
            <a:endParaRPr lang="en-US" sz="1500" dirty="0"/>
          </a:p>
        </p:txBody>
      </p:sp>
      <p:sp>
        <p:nvSpPr>
          <p:cNvPr id="23" name="adocao-n1"/>
          <p:cNvSpPr/>
          <p:nvPr/>
        </p:nvSpPr>
        <p:spPr>
          <a:xfrm>
            <a:off x="4434840" y="4343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4348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02920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Ativação com rollback</a:t>
            </a:r>
            <a:endParaRPr lang="en-US" sz="1500" dirty="0"/>
          </a:p>
        </p:txBody>
      </p:sp>
      <p:sp>
        <p:nvSpPr>
          <p:cNvPr id="26" name="adocao-n2"/>
          <p:cNvSpPr/>
          <p:nvPr/>
        </p:nvSpPr>
        <p:spPr>
          <a:xfrm>
            <a:off x="8046720" y="4343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0467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64108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Gestão de mudanças (Git)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Próximos passos</a:t>
            </a:r>
            <a:endParaRPr lang="en-US" sz="1600" dirty="0"/>
          </a:p>
        </p:txBody>
      </p:sp>
      <p:sp>
        <p:nvSpPr>
          <p:cNvPr id="30" name="fut-0-circ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fut-0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564642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9728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Nornir</a:t>
            </a:r>
            <a:endParaRPr lang="en-US" sz="1400" dirty="0"/>
          </a:p>
        </p:txBody>
      </p:sp>
      <p:sp>
        <p:nvSpPr>
          <p:cNvPr id="33" name="fut-1-circ"/>
          <p:cNvSpPr/>
          <p:nvPr/>
        </p:nvSpPr>
        <p:spPr>
          <a:xfrm>
            <a:off x="2788920" y="5532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fut-1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220" y="564642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33756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NetBox</a:t>
            </a:r>
            <a:endParaRPr lang="en-US" sz="1400" dirty="0"/>
          </a:p>
        </p:txBody>
      </p:sp>
      <p:sp>
        <p:nvSpPr>
          <p:cNvPr id="36" name="fut-2-circ"/>
          <p:cNvSpPr/>
          <p:nvPr/>
        </p:nvSpPr>
        <p:spPr>
          <a:xfrm>
            <a:off x="5029200" y="5532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fut-2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564642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57784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NETCONF/YANG</a:t>
            </a:r>
            <a:endParaRPr lang="en-US" sz="1400" dirty="0"/>
          </a:p>
        </p:txBody>
      </p:sp>
      <p:sp>
        <p:nvSpPr>
          <p:cNvPr id="39" name="fut-3-circ"/>
          <p:cNvSpPr/>
          <p:nvPr/>
        </p:nvSpPr>
        <p:spPr>
          <a:xfrm>
            <a:off x="7269480" y="5532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fut-3-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3780" y="5646420"/>
            <a:ext cx="228600" cy="2286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81812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Integração contínua</a:t>
            </a:r>
            <a:endParaRPr lang="en-US" sz="1400" dirty="0"/>
          </a:p>
        </p:txBody>
      </p:sp>
      <p:sp>
        <p:nvSpPr>
          <p:cNvPr id="42" name="fut-4-circ"/>
          <p:cNvSpPr/>
          <p:nvPr/>
        </p:nvSpPr>
        <p:spPr>
          <a:xfrm>
            <a:off x="9509760" y="5532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fut-4-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4060" y="5646420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05840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MPLS e eBGP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Gabriel Henrique de Salles · salles.gabriel@pucpr.edu.br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PERGUNTAS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Apoio: alternativas consideradas</a:t>
            </a:r>
            <a:endParaRPr lang="en-US" sz="3200" dirty="0"/>
          </a:p>
        </p:txBody>
      </p:sp>
      <p:graphicFrame>
        <p:nvGraphicFramePr>
          <p:cNvPr id="23" name="tabela-alternativ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343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9200"/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Alternativa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 que é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Por que não foi a base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Ansible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Orquestrador declarativo, sem agente, playbooks em YAML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Esconde as etapas em módulos; verificação e rollback ficam menos explícitos e difíceis de medir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Nornir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Framework Python de orquestração, com paralelismo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Usa Netmiko e NAPALM como plugins; ganho pequeno com 4 roteadores. É a evolução natural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Cisco NSO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Plataforma comercial orientada a modelos, com transações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Licença e porte incompatíveis com o escopo de custo zero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NETCONF/YANG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Configuração por modelos de dados estruturados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631"/>
                          </a:solidFill>
                        </a:rPr>
                        <a:t>Exige suporte e habilitação nos equipamentos; o cenário é de parque existente via CLI</a:t>
                      </a:r>
                      <a:endParaRPr lang="en-US" sz="15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Critérios: custo zero e código aberto · funciona via SSH no parque existente · comunidade ativa · cada etapa visível e mensurável.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Apoio: como o Jinja2 gera a configuração</a:t>
            </a:r>
            <a:endParaRPr lang="en-US" sz="3200" dirty="0"/>
          </a:p>
        </p:txBody>
      </p:sp>
      <p:sp>
        <p:nvSpPr>
          <p:cNvPr id="3" name="tpl"/>
          <p:cNvSpPr/>
          <p:nvPr/>
        </p:nvSpPr>
        <p:spPr>
          <a:xfrm>
            <a:off x="548640" y="13258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templates/cliente_ativar.j2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Loopback{{ c.id }}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description CLIENTE:{{ c.nome }} | CIRCUITO:{{ c.circuito }} | VEL:{{ c.velocidade }}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{{ gateway }} {{ mascara }}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bgp {{ asn }}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{{ rede }} mask {{ mascara }}</a:t>
            </a:r>
            <a:endParaRPr lang="en-US" sz="1400" dirty="0"/>
          </a:p>
        </p:txBody>
      </p:sp>
      <p:sp>
        <p:nvSpPr>
          <p:cNvPr id="5" name="gerado"/>
          <p:cNvSpPr/>
          <p:nvPr/>
        </p:nvSpPr>
        <p:spPr>
          <a:xfrm>
            <a:off x="6217920" y="13258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50876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gerada (cliente 101)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Loopback101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description CLIENTE:EMPRESA-ALFA | CIRCUITO:CORP-0101 | VEL:100M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172.16.101.1 255.255.255.0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bgp 65001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172.16.101.0 mask 255.255.255.0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id → Loopback · nome, circuito e velocidade → description · prefixo → ip address e network (gateway e máscara calculados pelo script).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Apoio: por que Route Reflector e por que verificar nele</a:t>
            </a:r>
            <a:endParaRPr lang="en-US" sz="3200" dirty="0"/>
          </a:p>
        </p:txBody>
      </p:sp>
      <p:sp>
        <p:nvSpPr>
          <p:cNvPr id="3" name="rr-a"/>
          <p:cNvSpPr/>
          <p:nvPr/>
        </p:nvSpPr>
        <p:spPr>
          <a:xfrm>
            <a:off x="548640" y="1325880"/>
            <a:ext cx="539496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Regra do iBGP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Rota aprendida de um vizinho iBGP não é repassada a outro vizinho iBGP.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Sem RR: malha completa, n(n−1)/2 sessões (4 roteadores = 6; 100 = 4.950).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Com RR: cada borda mantém uma única sessão com o core.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Sessões entre loopbacks, alcançáveis pelo OSPF mesmo se um enlace cair.</a:t>
            </a:r>
            <a:endParaRPr lang="en-US" sz="1600" dirty="0"/>
          </a:p>
        </p:txBody>
      </p:sp>
      <p:sp>
        <p:nvSpPr>
          <p:cNvPr id="5" name="rr-b"/>
          <p:cNvSpPr/>
          <p:nvPr/>
        </p:nvSpPr>
        <p:spPr>
          <a:xfrm>
            <a:off x="6217920" y="1325880"/>
            <a:ext cx="5394960" cy="36576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15544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Verificação no RR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Se o prefixo está no BGP do core, a ativação se propagou pela rede, e não só foi aceita pela borda.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Ping ao gateway a partir do core: ≥ 80% de sucesso.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Consulta a cada 3 s, por até 45 s, antes de decidir entre salvar (write memory) e rollback.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Apoio: BGP, iBGP e Route Reflector</a:t>
            </a:r>
            <a:endParaRPr lang="en-US" sz="3200" dirty="0"/>
          </a:p>
        </p:txBody>
      </p:sp>
      <p:sp>
        <p:nvSpPr>
          <p:cNvPr id="3" name="painel-mesh"/>
          <p:cNvSpPr/>
          <p:nvPr/>
        </p:nvSpPr>
        <p:spPr>
          <a:xfrm>
            <a:off x="548640" y="1280160"/>
            <a:ext cx="53035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inel-rr"/>
          <p:cNvSpPr/>
          <p:nvPr/>
        </p:nvSpPr>
        <p:spPr>
          <a:xfrm>
            <a:off x="6309360" y="1280160"/>
            <a:ext cx="53035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Sem RR: malha completa</a:t>
            </a:r>
            <a:r>
              <a:rPr lang="en-US" sz="1500" b="1" dirty="0">
                <a:solidFill>
                  <a:schemeClr val="accent2"/>
                </a:solidFill>
              </a:rPr>
              <a:t>  6 sessões  ·  100 roteadores = 4.950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 RR no core</a:t>
            </a:r>
            <a:r>
              <a:rPr lang="en-US" sz="1500" b="1" dirty="0">
                <a:solidFill>
                  <a:schemeClr val="accent1"/>
                </a:solidFill>
              </a:rPr>
              <a:t>  3 sessões  ·  100 roteadores = 99</a:t>
            </a:r>
            <a:endParaRPr lang="en-US" sz="1500" dirty="0"/>
          </a:p>
        </p:txBody>
      </p:sp>
      <p:sp>
        <p:nvSpPr>
          <p:cNvPr id="7" name="mesh-0"/>
          <p:cNvSpPr/>
          <p:nvPr/>
        </p:nvSpPr>
        <p:spPr>
          <a:xfrm>
            <a:off x="1783080" y="2240280"/>
            <a:ext cx="2926080" cy="914"/>
          </a:xfrm>
          <a:prstGeom prst="line">
            <a:avLst/>
          </a:prstGeom>
          <a:noFill/>
          <a:ln w="25400">
            <a:solidFill>
              <a:srgbClr val="D9711C"/>
            </a:solidFill>
            <a:prstDash val="solid"/>
          </a:ln>
        </p:spPr>
      </p:sp>
      <p:sp>
        <p:nvSpPr>
          <p:cNvPr id="8" name="mesh-1"/>
          <p:cNvSpPr/>
          <p:nvPr/>
        </p:nvSpPr>
        <p:spPr>
          <a:xfrm>
            <a:off x="1783080" y="2240280"/>
            <a:ext cx="914" cy="1554480"/>
          </a:xfrm>
          <a:prstGeom prst="line">
            <a:avLst/>
          </a:prstGeom>
          <a:noFill/>
          <a:ln w="25400">
            <a:solidFill>
              <a:srgbClr val="D9711C"/>
            </a:solidFill>
            <a:prstDash val="solid"/>
          </a:ln>
        </p:spPr>
      </p:sp>
      <p:sp>
        <p:nvSpPr>
          <p:cNvPr id="9" name="mesh-2"/>
          <p:cNvSpPr/>
          <p:nvPr/>
        </p:nvSpPr>
        <p:spPr>
          <a:xfrm>
            <a:off x="1783080" y="2240280"/>
            <a:ext cx="2926080" cy="1554480"/>
          </a:xfrm>
          <a:prstGeom prst="line">
            <a:avLst/>
          </a:prstGeom>
          <a:noFill/>
          <a:ln w="25400">
            <a:solidFill>
              <a:srgbClr val="D9711C"/>
            </a:solidFill>
            <a:prstDash val="solid"/>
          </a:ln>
        </p:spPr>
      </p:sp>
      <p:sp>
        <p:nvSpPr>
          <p:cNvPr id="10" name="mesh-3"/>
          <p:cNvSpPr/>
          <p:nvPr/>
        </p:nvSpPr>
        <p:spPr>
          <a:xfrm flipH="1">
            <a:off x="1783080" y="2240280"/>
            <a:ext cx="2926080" cy="1554480"/>
          </a:xfrm>
          <a:prstGeom prst="line">
            <a:avLst/>
          </a:prstGeom>
          <a:noFill/>
          <a:ln w="25400">
            <a:solidFill>
              <a:srgbClr val="D9711C"/>
            </a:solidFill>
            <a:prstDash val="solid"/>
          </a:ln>
        </p:spPr>
      </p:sp>
      <p:sp>
        <p:nvSpPr>
          <p:cNvPr id="11" name="mesh-4"/>
          <p:cNvSpPr/>
          <p:nvPr/>
        </p:nvSpPr>
        <p:spPr>
          <a:xfrm>
            <a:off x="4709160" y="2240280"/>
            <a:ext cx="914" cy="1554480"/>
          </a:xfrm>
          <a:prstGeom prst="line">
            <a:avLst/>
          </a:prstGeom>
          <a:noFill/>
          <a:ln w="25400">
            <a:solidFill>
              <a:srgbClr val="D9711C"/>
            </a:solidFill>
            <a:prstDash val="solid"/>
          </a:ln>
        </p:spPr>
      </p:sp>
      <p:sp>
        <p:nvSpPr>
          <p:cNvPr id="12" name="mesh-5"/>
          <p:cNvSpPr/>
          <p:nvPr/>
        </p:nvSpPr>
        <p:spPr>
          <a:xfrm>
            <a:off x="1783080" y="3794760"/>
            <a:ext cx="2926080" cy="914"/>
          </a:xfrm>
          <a:prstGeom prst="line">
            <a:avLst/>
          </a:prstGeom>
          <a:noFill/>
          <a:ln w="25400">
            <a:solidFill>
              <a:srgbClr val="D9711C"/>
            </a:solidFill>
            <a:prstDash val="solid"/>
          </a:ln>
        </p:spPr>
      </p:sp>
      <p:sp>
        <p:nvSpPr>
          <p:cNvPr id="13" name="m-core"/>
          <p:cNvSpPr/>
          <p:nvPr/>
        </p:nvSpPr>
        <p:spPr>
          <a:xfrm>
            <a:off x="1188720" y="196596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core</a:t>
            </a:r>
            <a:endParaRPr lang="en-US" sz="1400" dirty="0"/>
          </a:p>
        </p:txBody>
      </p:sp>
      <p:sp>
        <p:nvSpPr>
          <p:cNvPr id="15" name="m-e1"/>
          <p:cNvSpPr/>
          <p:nvPr/>
        </p:nvSpPr>
        <p:spPr>
          <a:xfrm>
            <a:off x="4114800" y="196596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edge-1</a:t>
            </a:r>
            <a:endParaRPr lang="en-US" sz="1400" dirty="0"/>
          </a:p>
        </p:txBody>
      </p:sp>
      <p:sp>
        <p:nvSpPr>
          <p:cNvPr id="17" name="m-e2"/>
          <p:cNvSpPr/>
          <p:nvPr/>
        </p:nvSpPr>
        <p:spPr>
          <a:xfrm>
            <a:off x="1188720" y="352044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edge-2</a:t>
            </a:r>
            <a:endParaRPr lang="en-US" sz="1400" dirty="0"/>
          </a:p>
        </p:txBody>
      </p:sp>
      <p:sp>
        <p:nvSpPr>
          <p:cNvPr id="19" name="m-e3"/>
          <p:cNvSpPr/>
          <p:nvPr/>
        </p:nvSpPr>
        <p:spPr>
          <a:xfrm>
            <a:off x="4114800" y="352044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edge-3</a:t>
            </a:r>
            <a:endParaRPr lang="en-US" sz="1400" dirty="0"/>
          </a:p>
        </p:txBody>
      </p:sp>
      <p:sp>
        <p:nvSpPr>
          <p:cNvPr id="21" name="rr-l0"/>
          <p:cNvSpPr/>
          <p:nvPr/>
        </p:nvSpPr>
        <p:spPr>
          <a:xfrm flipH="1">
            <a:off x="7178040" y="2240280"/>
            <a:ext cx="1783080" cy="155448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2" name="rr-l1"/>
          <p:cNvSpPr/>
          <p:nvPr/>
        </p:nvSpPr>
        <p:spPr>
          <a:xfrm>
            <a:off x="8961120" y="2240280"/>
            <a:ext cx="914" cy="155448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3" name="rr-l2"/>
          <p:cNvSpPr/>
          <p:nvPr/>
        </p:nvSpPr>
        <p:spPr>
          <a:xfrm>
            <a:off x="8961120" y="2240280"/>
            <a:ext cx="1783080" cy="155448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4" name="r-core"/>
          <p:cNvSpPr/>
          <p:nvPr/>
        </p:nvSpPr>
        <p:spPr>
          <a:xfrm>
            <a:off x="8366760" y="196596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core (RR)</a:t>
            </a:r>
            <a:endParaRPr lang="en-US" sz="1400" dirty="0"/>
          </a:p>
        </p:txBody>
      </p:sp>
      <p:sp>
        <p:nvSpPr>
          <p:cNvPr id="26" name="r-e1"/>
          <p:cNvSpPr/>
          <p:nvPr/>
        </p:nvSpPr>
        <p:spPr>
          <a:xfrm>
            <a:off x="6583680" y="352044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edge-1</a:t>
            </a:r>
            <a:endParaRPr lang="en-US" sz="1400" dirty="0"/>
          </a:p>
        </p:txBody>
      </p:sp>
      <p:sp>
        <p:nvSpPr>
          <p:cNvPr id="28" name="r-e2"/>
          <p:cNvSpPr/>
          <p:nvPr/>
        </p:nvSpPr>
        <p:spPr>
          <a:xfrm>
            <a:off x="8366760" y="352044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6676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edge-2</a:t>
            </a:r>
            <a:endParaRPr lang="en-US" sz="1400" dirty="0"/>
          </a:p>
        </p:txBody>
      </p:sp>
      <p:sp>
        <p:nvSpPr>
          <p:cNvPr id="30" name="r-e3"/>
          <p:cNvSpPr/>
          <p:nvPr/>
        </p:nvSpPr>
        <p:spPr>
          <a:xfrm>
            <a:off x="10149840" y="352044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edge-3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70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Regra do iBGP: rota aprendida de um vizinho iBGP não é repassada a outro. O RR é autorizado a refletir.</a:t>
            </a:r>
            <a:endParaRPr lang="en-US" sz="1300" dirty="0"/>
          </a:p>
        </p:txBody>
      </p:sp>
      <p:sp>
        <p:nvSpPr>
          <p:cNvPr id="33" name="card-bgp-0"/>
          <p:cNvSpPr/>
          <p:nvPr/>
        </p:nvSpPr>
        <p:spPr>
          <a:xfrm>
            <a:off x="54864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91947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OSPF · infraestrutura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Leva só loopbacks e enlaces. Mantém as sessões iBGP de pé, mesmo se um cabo cair.</a:t>
            </a:r>
            <a:endParaRPr lang="en-US" sz="1300" dirty="0"/>
          </a:p>
        </p:txBody>
      </p:sp>
      <p:sp>
        <p:nvSpPr>
          <p:cNvPr id="35" name="card-bgp-1"/>
          <p:cNvSpPr/>
          <p:nvPr/>
        </p:nvSpPr>
        <p:spPr>
          <a:xfrm>
            <a:off x="429768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80560" y="491947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iBGP · clientes no AS 65001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borda anuncia o prefixo (network) e o RR distribui para todas as bordas.</a:t>
            </a:r>
            <a:endParaRPr lang="en-US" sz="1300" dirty="0"/>
          </a:p>
        </p:txBody>
      </p:sp>
      <p:sp>
        <p:nvSpPr>
          <p:cNvPr id="37" name="card-bgp-2"/>
          <p:cNvSpPr/>
          <p:nvPr/>
        </p:nvSpPr>
        <p:spPr>
          <a:xfrm>
            <a:off x="804672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0" y="491947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Core como RR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Centro da topologia, sem clientes e com visão completa: por isso a verificação é nele. Produção: 2 RRs.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Apoio: segurança e rastreabilidade</a:t>
            </a:r>
            <a:endParaRPr lang="en-US" sz="3200" dirty="0"/>
          </a:p>
        </p:txBody>
      </p:sp>
      <p:sp>
        <p:nvSpPr>
          <p:cNvPr id="3" name="sec-0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c-0-circ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c-0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Credenciais fora do código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48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Lidas das variáveis LAB_USER e LAB_PASS; nenhuma senha em script ou arquivo.</a:t>
            </a:r>
            <a:endParaRPr lang="en-US" sz="1500" dirty="0"/>
          </a:p>
        </p:txBody>
      </p:sp>
      <p:sp>
        <p:nvSpPr>
          <p:cNvPr id="8" name="sec-1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c-1-circ"/>
          <p:cNvSpPr/>
          <p:nvPr/>
        </p:nvSpPr>
        <p:spPr>
          <a:xfrm>
            <a:off x="649224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ec-1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Repositório privado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148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GitHub privado até a banca; sem backups nem YAML do lab, que têm hash de senha.</a:t>
            </a:r>
            <a:endParaRPr lang="en-US" sz="1500" dirty="0"/>
          </a:p>
        </p:txBody>
      </p:sp>
      <p:sp>
        <p:nvSpPr>
          <p:cNvPr id="13" name="sec-2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ec-2-circ"/>
          <p:cNvSpPr/>
          <p:nvPr/>
        </p:nvSpPr>
        <p:spPr>
          <a:xfrm>
            <a:off x="82296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ec-2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4149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Horário único (NTP)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4480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Todos sincronizam com o core: registros de equipamentos diferentes são comparáveis.</a:t>
            </a:r>
            <a:endParaRPr lang="en-US" sz="1500" dirty="0"/>
          </a:p>
        </p:txBody>
      </p:sp>
      <p:sp>
        <p:nvSpPr>
          <p:cNvPr id="18" name="sec-3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c-3-circ"/>
          <p:cNvSpPr/>
          <p:nvPr/>
        </p:nvSpPr>
        <p:spPr>
          <a:xfrm>
            <a:off x="649224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ec-3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0" y="41490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Registro de cada comando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4805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Horário, usuário e forma de acesso (console ou SSH), mais os logs CSV dos scripts.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CC Automacao">
  <a:themeElements>
    <a:clrScheme name="TCC Automacao">
      <a:dk1>
        <a:srgbClr val="1B2631"/>
      </a:dk1>
      <a:lt1>
        <a:srgbClr val="FFFFFF"/>
      </a:lt1>
      <a:dk2>
        <a:srgbClr val="0F2A3A"/>
      </a:dk2>
      <a:lt2>
        <a:srgbClr val="EEF3F4"/>
      </a:lt2>
      <a:accent1>
        <a:srgbClr val="0E7C86"/>
      </a:accent1>
      <a:accent2>
        <a:srgbClr val="D9711C"/>
      </a:accent2>
      <a:accent3>
        <a:srgbClr val="5B6B7A"/>
      </a:accent3>
      <a:accent4>
        <a:srgbClr val="B03A2E"/>
      </a:accent4>
      <a:accent5>
        <a:srgbClr val="2E7D4F"/>
      </a:accent5>
      <a:accent6>
        <a:srgbClr val="9FB3BF"/>
      </a:accent6>
      <a:hlink>
        <a:srgbClr val="0E7C86"/>
      </a:hlink>
      <a:folHlink>
        <a:srgbClr val="5B6B7A"/>
      </a:folHlink>
    </a:clrScheme>
    <a:fontScheme name="TCC Automaca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4425</Words>
  <Application>Microsoft Office PowerPoint</Application>
  <PresentationFormat>Personalizar</PresentationFormat>
  <Paragraphs>539</Paragraphs>
  <Slides>26</Slides>
  <Notes>26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TCC Automacao</vt:lpstr>
      <vt:lpstr>Aplicação de Ferramentas de Automação (Netmiko, NAPALM e Jinja2) na Configuração de Roteadores Cisco em Ambiente Simulado de Provedor de Serviços de Internet</vt:lpstr>
      <vt:lpstr>Ativar um cliente ainda é trabalho manual na CLI</vt:lpstr>
      <vt:lpstr>Objetivo: aplicar ferramentas existentes e medir o ganho</vt:lpstr>
      <vt:lpstr>Quatro peças, cada uma com um papel</vt:lpstr>
      <vt:lpstr>Laboratório: core e borda de um ISP em escala reduzida</vt:lpstr>
      <vt:lpstr>Fluxo de ativação em cinco etapas</vt:lpstr>
      <vt:lpstr>D1 · Proposta: manual × automatizado</vt:lpstr>
      <vt:lpstr>D1 · Resultado: de 162,0 s para 5,7 s</vt:lpstr>
      <vt:lpstr>D2 · Proposta: erros injetados</vt:lpstr>
      <vt:lpstr>D2 · Resultado: 7 de 7 erros barrados</vt:lpstr>
      <vt:lpstr>D3 · Proposta: escala em lotes</vt:lpstr>
      <vt:lpstr>D3 · Resultado: ≈ 5,7 s por cliente, linear</vt:lpstr>
      <vt:lpstr>D4 · Proposta: auditoria de conformidade</vt:lpstr>
      <vt:lpstr>D4 · As regras do padrão auditadas</vt:lpstr>
      <vt:lpstr>D4 · Resultado: 4 s contra quase 6 minutos</vt:lpstr>
      <vt:lpstr>D5 · Proposta: falha de uma borda</vt:lpstr>
      <vt:lpstr>D5 · Resultado: decisão certa por cliente</vt:lpstr>
      <vt:lpstr>Demonstração: do YAML ao Route Reflector</vt:lpstr>
      <vt:lpstr>Discussão e limitações</vt:lpstr>
      <vt:lpstr>O ganho vai além da velocidade</vt:lpstr>
      <vt:lpstr>Obrigado</vt:lpstr>
      <vt:lpstr>Apoio: alternativas consideradas</vt:lpstr>
      <vt:lpstr>Apoio: como o Jinja2 gera a configuração</vt:lpstr>
      <vt:lpstr>Apoio: por que Route Reflector e por que verificar nele</vt:lpstr>
      <vt:lpstr>Apoio: BGP, iBGP e Route Reflector</vt:lpstr>
      <vt:lpstr>Apoio: segurança e rastreabilidade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2026-10-24T18:37:49Z</dcterms:created>
  <dcterms:modified xsi:type="dcterms:W3CDTF">2026-10-24T18:40:03Z</dcterms:modified>
</cp:coreProperties>
</file>